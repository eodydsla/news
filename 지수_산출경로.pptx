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2"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7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785971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색상은 방식을 뜻한다. 청록 = 키워드 기반, 주황 = LLM 기반, 회색 = 필터링 없음(현재).</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A안이 현재 운영 중인 방식. B안은 이미 데이터를 보유하고 있고, C안은 요구도 지수에 쓰는 LLM 기반 필터 결과를 관심도로도 지수화하는 신규 안이다. 키워드 455종은 필터링이 아니라 지수 산출 이후 세부 분류에 사용한다.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조합을 모두 산출해 비교한다.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04는 업로드해 주신 자료에서 수치 표기가 서로 달라 확인이 필요한 항목이다.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04는 업로드해 주신 자료에서 수치 표기가 서로 달라 확인이 필요한 항목이다.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71874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04는 업로드해 주신 자료에서 수치 표기가 서로 달라 확인이 필요한 항목이다.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88351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56032"/>
            <a:ext cx="8686800" cy="438912"/>
          </a:xfrm>
          <a:prstGeom prst="rect">
            <a:avLst/>
          </a:prstGeom>
          <a:noFill/>
          <a:ln/>
        </p:spPr>
        <p:txBody>
          <a:bodyPr wrap="square" lIns="0" tIns="0" rIns="0" bIns="0" rtlCol="0" anchor="ctr"/>
          <a:lstStyle/>
          <a:p>
            <a:pPr marL="0" indent="0" algn="l">
              <a:buNone/>
            </a:pPr>
            <a:r>
              <a:rPr lang="en-US" sz="2700" b="1" dirty="0">
                <a:solidFill>
                  <a:srgbClr val="14343B"/>
                </a:solidFill>
                <a:latin typeface="Malgun Gothic" pitchFamily="34" charset="0"/>
                <a:ea typeface="Malgun Gothic" pitchFamily="34" charset="-122"/>
                <a:cs typeface="Malgun Gothic" pitchFamily="34" charset="-120"/>
              </a:rPr>
              <a:t>지수 산출 파이프라인 · 전체 구조</a:t>
            </a:r>
            <a:endParaRPr lang="en-US" sz="2700" dirty="0"/>
          </a:p>
        </p:txBody>
      </p:sp>
      <p:sp>
        <p:nvSpPr>
          <p:cNvPr id="3" name="Text 1"/>
          <p:cNvSpPr txBox="1"/>
          <p:nvPr/>
        </p:nvSpPr>
        <p:spPr>
          <a:xfrm>
            <a:off x="640080" y="713232"/>
            <a:ext cx="10881360" cy="274320"/>
          </a:xfrm>
          <a:prstGeom prst="rect">
            <a:avLst/>
          </a:prstGeom>
          <a:noFill/>
          <a:ln/>
        </p:spPr>
        <p:txBody>
          <a:bodyPr wrap="square" lIns="0" tIns="0" rIns="0" bIns="0" rtlCol="0" anchor="ctr"/>
          <a:lstStyle/>
          <a:p>
            <a:pPr marL="0" indent="0" algn="l">
              <a:buNone/>
            </a:pPr>
            <a:r>
              <a:rPr lang="en-US" sz="1300" dirty="0">
                <a:solidFill>
                  <a:srgbClr val="6B7D82"/>
                </a:solidFill>
                <a:latin typeface="Malgun Gothic" pitchFamily="34" charset="0"/>
                <a:ea typeface="Malgun Gothic" pitchFamily="34" charset="-122"/>
                <a:cs typeface="Malgun Gothic" pitchFamily="34" charset="-120"/>
              </a:rPr>
              <a:t>필터링은 대기환경과 무관한 기사를 제거하는 단계 · 방식을 달리해 관심도 3안 · 요구도 4안을 산출</a:t>
            </a:r>
            <a:endParaRPr lang="en-US" sz="1300" dirty="0"/>
          </a:p>
        </p:txBody>
      </p:sp>
      <p:sp>
        <p:nvSpPr>
          <p:cNvPr id="4" name="Text 2"/>
          <p:cNvSpPr txBox="1"/>
          <p:nvPr/>
        </p:nvSpPr>
        <p:spPr>
          <a:xfrm>
            <a:off x="548640" y="1188720"/>
            <a:ext cx="1325880" cy="731520"/>
          </a:xfrm>
          <a:prstGeom prst="rect">
            <a:avLst/>
          </a:prstGeom>
          <a:noFill/>
          <a:ln/>
        </p:spPr>
        <p:txBody>
          <a:bodyPr wrap="square" lIns="0" tIns="0" rIns="0" bIns="0" rtlCol="0" anchor="ctr"/>
          <a:lstStyle/>
          <a:p>
            <a:pPr marL="0" indent="0" algn="r">
              <a:buNone/>
            </a:pPr>
            <a:r>
              <a:rPr lang="en-US" sz="1100" b="1" dirty="0" err="1">
                <a:solidFill>
                  <a:srgbClr val="FF0000"/>
                </a:solidFill>
                <a:latin typeface="Malgun Gothic" pitchFamily="34" charset="0"/>
                <a:ea typeface="Malgun Gothic" pitchFamily="34" charset="-122"/>
                <a:cs typeface="Malgun Gothic" pitchFamily="34" charset="-120"/>
              </a:rPr>
              <a:t>공통</a:t>
            </a:r>
            <a:r>
              <a:rPr lang="en-US" sz="1100" b="1" dirty="0">
                <a:solidFill>
                  <a:srgbClr val="FF0000"/>
                </a:solidFill>
                <a:latin typeface="Malgun Gothic" pitchFamily="34" charset="0"/>
                <a:ea typeface="Malgun Gothic" pitchFamily="34" charset="-122"/>
                <a:cs typeface="Malgun Gothic" pitchFamily="34" charset="-120"/>
              </a:rPr>
              <a:t> </a:t>
            </a:r>
            <a:r>
              <a:rPr lang="en-US" sz="1100" b="1" dirty="0" err="1">
                <a:solidFill>
                  <a:srgbClr val="FF0000"/>
                </a:solidFill>
                <a:latin typeface="Malgun Gothic" pitchFamily="34" charset="0"/>
                <a:ea typeface="Malgun Gothic" pitchFamily="34" charset="-122"/>
                <a:cs typeface="Malgun Gothic" pitchFamily="34" charset="-120"/>
              </a:rPr>
              <a:t>수집</a:t>
            </a:r>
            <a:endParaRPr lang="en-US" sz="1100" b="1" dirty="0">
              <a:solidFill>
                <a:srgbClr val="FF0000"/>
              </a:solidFill>
              <a:latin typeface="Malgun Gothic" pitchFamily="34" charset="0"/>
              <a:ea typeface="Malgun Gothic" pitchFamily="34" charset="-122"/>
              <a:cs typeface="Malgun Gothic" pitchFamily="34" charset="-120"/>
            </a:endParaRPr>
          </a:p>
          <a:p>
            <a:pPr marL="0" indent="0" algn="r">
              <a:buNone/>
            </a:pPr>
            <a:r>
              <a:rPr lang="en-US" sz="1100" b="1" dirty="0">
                <a:solidFill>
                  <a:srgbClr val="FF0000"/>
                </a:solidFill>
                <a:latin typeface="Malgun Gothic" pitchFamily="34" charset="0"/>
                <a:ea typeface="Malgun Gothic" pitchFamily="34" charset="-122"/>
              </a:rPr>
              <a:t>(</a:t>
            </a:r>
            <a:r>
              <a:rPr lang="ko-KR" altLang="en-US" sz="1100" b="1" dirty="0">
                <a:solidFill>
                  <a:srgbClr val="FF0000"/>
                </a:solidFill>
                <a:latin typeface="Malgun Gothic" pitchFamily="34" charset="0"/>
                <a:ea typeface="Malgun Gothic" pitchFamily="34" charset="-122"/>
              </a:rPr>
              <a:t>여기까진 전부 동일함</a:t>
            </a:r>
            <a:r>
              <a:rPr lang="en-US" altLang="ko-KR" sz="1100" b="1" dirty="0">
                <a:solidFill>
                  <a:srgbClr val="FF0000"/>
                </a:solidFill>
                <a:latin typeface="Malgun Gothic" pitchFamily="34" charset="0"/>
                <a:ea typeface="Malgun Gothic" pitchFamily="34" charset="-122"/>
              </a:rPr>
              <a:t>)</a:t>
            </a:r>
            <a:endParaRPr lang="en-US" sz="1100" dirty="0">
              <a:solidFill>
                <a:srgbClr val="FF0000"/>
              </a:solidFill>
            </a:endParaRPr>
          </a:p>
        </p:txBody>
      </p:sp>
      <p:sp>
        <p:nvSpPr>
          <p:cNvPr id="5" name="Shape 3"/>
          <p:cNvSpPr/>
          <p:nvPr/>
        </p:nvSpPr>
        <p:spPr>
          <a:xfrm>
            <a:off x="2103120" y="1188720"/>
            <a:ext cx="4572000" cy="731520"/>
          </a:xfrm>
          <a:prstGeom prst="roundRect">
            <a:avLst>
              <a:gd name="adj" fmla="val 10000"/>
            </a:avLst>
          </a:prstGeom>
          <a:solidFill>
            <a:srgbClr val="1F3A44"/>
          </a:solidFill>
          <a:ln/>
        </p:spPr>
      </p:sp>
      <p:sp>
        <p:nvSpPr>
          <p:cNvPr id="6" name="Text 4"/>
          <p:cNvSpPr txBox="1"/>
          <p:nvPr/>
        </p:nvSpPr>
        <p:spPr>
          <a:xfrm>
            <a:off x="2377440" y="1188720"/>
            <a:ext cx="2286000" cy="731520"/>
          </a:xfrm>
          <a:prstGeom prst="rect">
            <a:avLst/>
          </a:prstGeom>
          <a:noFill/>
          <a:ln/>
        </p:spPr>
        <p:txBody>
          <a:bodyPr wrap="square" lIns="0" tIns="0" rIns="0" bIns="0" rtlCol="0" anchor="ctr"/>
          <a:lstStyle/>
          <a:p>
            <a:pPr marL="0" indent="0" algn="l">
              <a:buNone/>
            </a:pPr>
            <a:r>
              <a:rPr lang="en-US" sz="1400" dirty="0">
                <a:solidFill>
                  <a:srgbClr val="C6D6DA"/>
                </a:solidFill>
                <a:latin typeface="Malgun Gothic" pitchFamily="34" charset="0"/>
                <a:ea typeface="Malgun Gothic" pitchFamily="34" charset="-122"/>
                <a:cs typeface="Malgun Gothic" pitchFamily="34" charset="-120"/>
              </a:rPr>
              <a:t>전체기사수</a:t>
            </a:r>
            <a:endParaRPr lang="en-US" sz="1400" dirty="0"/>
          </a:p>
        </p:txBody>
      </p:sp>
      <p:sp>
        <p:nvSpPr>
          <p:cNvPr id="7" name="Text 5"/>
          <p:cNvSpPr txBox="1"/>
          <p:nvPr/>
        </p:nvSpPr>
        <p:spPr>
          <a:xfrm>
            <a:off x="4480560" y="1188720"/>
            <a:ext cx="1920240" cy="731520"/>
          </a:xfrm>
          <a:prstGeom prst="rect">
            <a:avLst/>
          </a:prstGeom>
          <a:noFill/>
          <a:ln/>
        </p:spPr>
        <p:txBody>
          <a:bodyPr wrap="square" lIns="0" tIns="0" rIns="0" bIns="0" rtlCol="0" anchor="ctr"/>
          <a:lstStyle/>
          <a:p>
            <a:pPr marL="0" indent="0" algn="r">
              <a:buNone/>
            </a:pPr>
            <a:r>
              <a:rPr lang="en-US" sz="2000" b="1" dirty="0">
                <a:solidFill>
                  <a:srgbClr val="FFFFFF"/>
                </a:solidFill>
                <a:latin typeface="Malgun Gothic" pitchFamily="34" charset="0"/>
                <a:ea typeface="Malgun Gothic" pitchFamily="34" charset="-122"/>
                <a:cs typeface="Malgun Gothic" pitchFamily="34" charset="-120"/>
              </a:rPr>
              <a:t>약 67만건</a:t>
            </a:r>
            <a:endParaRPr lang="en-US" sz="2000" dirty="0"/>
          </a:p>
        </p:txBody>
      </p:sp>
      <p:sp>
        <p:nvSpPr>
          <p:cNvPr id="8" name="Shape 6"/>
          <p:cNvSpPr/>
          <p:nvPr/>
        </p:nvSpPr>
        <p:spPr>
          <a:xfrm>
            <a:off x="6675120" y="1554480"/>
            <a:ext cx="393192" cy="0"/>
          </a:xfrm>
          <a:prstGeom prst="line">
            <a:avLst/>
          </a:prstGeom>
          <a:noFill/>
          <a:ln w="19050">
            <a:solidFill>
              <a:srgbClr val="7A9299"/>
            </a:solidFill>
            <a:prstDash val="solid"/>
            <a:tailEnd type="triangle"/>
          </a:ln>
        </p:spPr>
      </p:sp>
      <p:sp>
        <p:nvSpPr>
          <p:cNvPr id="9" name="Shape 7"/>
          <p:cNvSpPr/>
          <p:nvPr/>
        </p:nvSpPr>
        <p:spPr>
          <a:xfrm>
            <a:off x="7068312" y="1188720"/>
            <a:ext cx="4572000" cy="731520"/>
          </a:xfrm>
          <a:prstGeom prst="roundRect">
            <a:avLst>
              <a:gd name="adj" fmla="val 10000"/>
            </a:avLst>
          </a:prstGeom>
          <a:solidFill>
            <a:srgbClr val="1F3A44"/>
          </a:solidFill>
          <a:ln/>
        </p:spPr>
      </p:sp>
      <p:sp>
        <p:nvSpPr>
          <p:cNvPr id="10" name="Text 8"/>
          <p:cNvSpPr txBox="1"/>
          <p:nvPr/>
        </p:nvSpPr>
        <p:spPr>
          <a:xfrm>
            <a:off x="7342632" y="1188720"/>
            <a:ext cx="2286000" cy="731520"/>
          </a:xfrm>
          <a:prstGeom prst="rect">
            <a:avLst/>
          </a:prstGeom>
          <a:noFill/>
          <a:ln/>
        </p:spPr>
        <p:txBody>
          <a:bodyPr wrap="square" lIns="0" tIns="0" rIns="0" bIns="0" rtlCol="0" anchor="ctr"/>
          <a:lstStyle/>
          <a:p>
            <a:pPr marL="0" indent="0" algn="l">
              <a:buNone/>
            </a:pPr>
            <a:r>
              <a:rPr lang="en-US" sz="1400" dirty="0">
                <a:solidFill>
                  <a:srgbClr val="C6D6DA"/>
                </a:solidFill>
                <a:latin typeface="Malgun Gothic" pitchFamily="34" charset="0"/>
                <a:ea typeface="Malgun Gothic" pitchFamily="34" charset="-122"/>
                <a:cs typeface="Malgun Gothic" pitchFamily="34" charset="-120"/>
              </a:rPr>
              <a:t>언론 필터링 (17개사)</a:t>
            </a:r>
            <a:endParaRPr lang="en-US" sz="1400" dirty="0"/>
          </a:p>
        </p:txBody>
      </p:sp>
      <p:sp>
        <p:nvSpPr>
          <p:cNvPr id="11" name="Text 9"/>
          <p:cNvSpPr txBox="1"/>
          <p:nvPr/>
        </p:nvSpPr>
        <p:spPr>
          <a:xfrm>
            <a:off x="9445752" y="1188720"/>
            <a:ext cx="1920240" cy="731520"/>
          </a:xfrm>
          <a:prstGeom prst="rect">
            <a:avLst/>
          </a:prstGeom>
          <a:noFill/>
          <a:ln/>
        </p:spPr>
        <p:txBody>
          <a:bodyPr wrap="square" lIns="0" tIns="0" rIns="0" bIns="0" rtlCol="0" anchor="ctr"/>
          <a:lstStyle/>
          <a:p>
            <a:pPr marL="0" indent="0" algn="r">
              <a:buNone/>
            </a:pPr>
            <a:r>
              <a:rPr lang="en-US" sz="2000" b="1" dirty="0">
                <a:solidFill>
                  <a:srgbClr val="FFFFFF"/>
                </a:solidFill>
                <a:latin typeface="Malgun Gothic" pitchFamily="34" charset="0"/>
                <a:ea typeface="Malgun Gothic" pitchFamily="34" charset="-122"/>
                <a:cs typeface="Malgun Gothic" pitchFamily="34" charset="-120"/>
              </a:rPr>
              <a:t>약 21만건</a:t>
            </a:r>
            <a:endParaRPr lang="en-US" sz="2000" dirty="0"/>
          </a:p>
        </p:txBody>
      </p:sp>
      <p:sp>
        <p:nvSpPr>
          <p:cNvPr id="12" name="Shape 10"/>
          <p:cNvSpPr/>
          <p:nvPr/>
        </p:nvSpPr>
        <p:spPr>
          <a:xfrm>
            <a:off x="9354312" y="1920240"/>
            <a:ext cx="0" cy="228600"/>
          </a:xfrm>
          <a:prstGeom prst="line">
            <a:avLst/>
          </a:prstGeom>
          <a:noFill/>
          <a:ln w="19050">
            <a:solidFill>
              <a:srgbClr val="7A9299"/>
            </a:solidFill>
            <a:prstDash val="solid"/>
          </a:ln>
        </p:spPr>
      </p:sp>
      <p:sp>
        <p:nvSpPr>
          <p:cNvPr id="13" name="Shape 11"/>
          <p:cNvSpPr/>
          <p:nvPr/>
        </p:nvSpPr>
        <p:spPr>
          <a:xfrm>
            <a:off x="3585820" y="2148840"/>
            <a:ext cx="6570878" cy="0"/>
          </a:xfrm>
          <a:prstGeom prst="line">
            <a:avLst/>
          </a:prstGeom>
          <a:noFill/>
          <a:ln w="19050">
            <a:solidFill>
              <a:srgbClr val="7A9299"/>
            </a:solidFill>
            <a:prstDash val="solid"/>
          </a:ln>
        </p:spPr>
      </p:sp>
      <p:sp>
        <p:nvSpPr>
          <p:cNvPr id="14" name="Shape 12"/>
          <p:cNvSpPr/>
          <p:nvPr/>
        </p:nvSpPr>
        <p:spPr>
          <a:xfrm>
            <a:off x="3585820" y="2148840"/>
            <a:ext cx="0" cy="320040"/>
          </a:xfrm>
          <a:prstGeom prst="line">
            <a:avLst/>
          </a:prstGeom>
          <a:noFill/>
          <a:ln w="19050">
            <a:solidFill>
              <a:srgbClr val="7A9299"/>
            </a:solidFill>
            <a:prstDash val="solid"/>
            <a:tailEnd type="triangle"/>
          </a:ln>
        </p:spPr>
      </p:sp>
      <p:sp>
        <p:nvSpPr>
          <p:cNvPr id="15" name="Shape 13"/>
          <p:cNvSpPr/>
          <p:nvPr/>
        </p:nvSpPr>
        <p:spPr>
          <a:xfrm>
            <a:off x="6871259" y="2148840"/>
            <a:ext cx="0" cy="320040"/>
          </a:xfrm>
          <a:prstGeom prst="line">
            <a:avLst/>
          </a:prstGeom>
          <a:noFill/>
          <a:ln w="19050">
            <a:solidFill>
              <a:srgbClr val="7A9299"/>
            </a:solidFill>
            <a:prstDash val="solid"/>
            <a:tailEnd type="triangle"/>
          </a:ln>
        </p:spPr>
      </p:sp>
      <p:sp>
        <p:nvSpPr>
          <p:cNvPr id="16" name="Shape 14"/>
          <p:cNvSpPr/>
          <p:nvPr/>
        </p:nvSpPr>
        <p:spPr>
          <a:xfrm>
            <a:off x="10156698" y="2148840"/>
            <a:ext cx="0" cy="320040"/>
          </a:xfrm>
          <a:prstGeom prst="line">
            <a:avLst/>
          </a:prstGeom>
          <a:noFill/>
          <a:ln w="19050">
            <a:solidFill>
              <a:srgbClr val="7A9299"/>
            </a:solidFill>
            <a:prstDash val="solid"/>
            <a:tailEnd type="triangle"/>
          </a:ln>
        </p:spPr>
      </p:sp>
      <p:sp>
        <p:nvSpPr>
          <p:cNvPr id="17" name="Text 15"/>
          <p:cNvSpPr txBox="1"/>
          <p:nvPr/>
        </p:nvSpPr>
        <p:spPr>
          <a:xfrm>
            <a:off x="548640" y="2468880"/>
            <a:ext cx="1325880" cy="731520"/>
          </a:xfrm>
          <a:prstGeom prst="rect">
            <a:avLst/>
          </a:prstGeom>
          <a:noFill/>
          <a:ln/>
        </p:spPr>
        <p:txBody>
          <a:bodyPr wrap="square" lIns="0" tIns="0" rIns="0" bIns="0" rtlCol="0" anchor="ctr"/>
          <a:lstStyle/>
          <a:p>
            <a:pPr marL="0" indent="0" algn="r">
              <a:buNone/>
            </a:pPr>
            <a:r>
              <a:rPr lang="en-US" sz="1100" b="1" dirty="0" err="1">
                <a:solidFill>
                  <a:srgbClr val="FF0000"/>
                </a:solidFill>
                <a:latin typeface="Malgun Gothic" pitchFamily="34" charset="0"/>
                <a:ea typeface="Malgun Gothic" pitchFamily="34" charset="-122"/>
                <a:cs typeface="Malgun Gothic" pitchFamily="34" charset="-120"/>
              </a:rPr>
              <a:t>필터링</a:t>
            </a:r>
            <a:r>
              <a:rPr lang="en-US" sz="1100" b="1" dirty="0">
                <a:solidFill>
                  <a:srgbClr val="FF0000"/>
                </a:solidFill>
                <a:latin typeface="Malgun Gothic" pitchFamily="34" charset="0"/>
                <a:ea typeface="Malgun Gothic" pitchFamily="34" charset="-122"/>
                <a:cs typeface="Malgun Gothic" pitchFamily="34" charset="-120"/>
              </a:rPr>
              <a:t> </a:t>
            </a:r>
            <a:r>
              <a:rPr lang="en-US" sz="1100" b="1" dirty="0" err="1">
                <a:solidFill>
                  <a:srgbClr val="FF0000"/>
                </a:solidFill>
                <a:latin typeface="Malgun Gothic" pitchFamily="34" charset="0"/>
                <a:ea typeface="Malgun Gothic" pitchFamily="34" charset="-122"/>
                <a:cs typeface="Malgun Gothic" pitchFamily="34" charset="-120"/>
              </a:rPr>
              <a:t>방식</a:t>
            </a:r>
            <a:endParaRPr lang="en-US" sz="1100" b="1" dirty="0">
              <a:solidFill>
                <a:srgbClr val="FF0000"/>
              </a:solidFill>
              <a:latin typeface="Malgun Gothic" pitchFamily="34" charset="0"/>
              <a:ea typeface="Malgun Gothic" pitchFamily="34" charset="-122"/>
              <a:cs typeface="Malgun Gothic" pitchFamily="34" charset="-120"/>
            </a:endParaRPr>
          </a:p>
          <a:p>
            <a:pPr marL="0" indent="0" algn="r">
              <a:buNone/>
            </a:pPr>
            <a:r>
              <a:rPr lang="en-US" sz="1100" b="1" dirty="0">
                <a:solidFill>
                  <a:srgbClr val="FF0000"/>
                </a:solidFill>
                <a:latin typeface="Malgun Gothic" pitchFamily="34" charset="0"/>
                <a:ea typeface="Malgun Gothic" pitchFamily="34" charset="-122"/>
              </a:rPr>
              <a:t>(</a:t>
            </a:r>
            <a:r>
              <a:rPr lang="ko-KR" altLang="en-US" sz="1100" b="1" dirty="0">
                <a:solidFill>
                  <a:srgbClr val="FF0000"/>
                </a:solidFill>
                <a:latin typeface="Malgun Gothic" pitchFamily="34" charset="0"/>
                <a:ea typeface="Malgun Gothic" pitchFamily="34" charset="-122"/>
              </a:rPr>
              <a:t>어떤 기사가 대기환경 기사인가</a:t>
            </a:r>
            <a:r>
              <a:rPr lang="en-US" altLang="ko-KR" sz="1100" b="1" dirty="0">
                <a:solidFill>
                  <a:srgbClr val="FF0000"/>
                </a:solidFill>
                <a:latin typeface="Malgun Gothic" pitchFamily="34" charset="0"/>
                <a:ea typeface="Malgun Gothic" pitchFamily="34" charset="-122"/>
              </a:rPr>
              <a:t>?</a:t>
            </a:r>
            <a:endParaRPr lang="en-US" sz="1100" dirty="0">
              <a:solidFill>
                <a:srgbClr val="FF0000"/>
              </a:solidFill>
            </a:endParaRPr>
          </a:p>
        </p:txBody>
      </p:sp>
      <p:sp>
        <p:nvSpPr>
          <p:cNvPr id="18" name="Shape 16"/>
          <p:cNvSpPr/>
          <p:nvPr/>
        </p:nvSpPr>
        <p:spPr>
          <a:xfrm>
            <a:off x="2103120" y="2468880"/>
            <a:ext cx="2965399" cy="1005840"/>
          </a:xfrm>
          <a:prstGeom prst="roundRect">
            <a:avLst>
              <a:gd name="adj" fmla="val 7273"/>
            </a:avLst>
          </a:prstGeom>
          <a:solidFill>
            <a:srgbClr val="EDF1F2"/>
          </a:solidFill>
          <a:ln w="15875">
            <a:solidFill>
              <a:srgbClr val="5A7883"/>
            </a:solidFill>
            <a:prstDash val="solid"/>
          </a:ln>
        </p:spPr>
      </p:sp>
      <p:sp>
        <p:nvSpPr>
          <p:cNvPr id="19" name="Text 17"/>
          <p:cNvSpPr txBox="1"/>
          <p:nvPr/>
        </p:nvSpPr>
        <p:spPr>
          <a:xfrm>
            <a:off x="2340864" y="2615184"/>
            <a:ext cx="2489911" cy="310896"/>
          </a:xfrm>
          <a:prstGeom prst="rect">
            <a:avLst/>
          </a:prstGeom>
          <a:noFill/>
          <a:ln/>
        </p:spPr>
        <p:txBody>
          <a:bodyPr wrap="square" lIns="0" tIns="0" rIns="0" bIns="0" rtlCol="0" anchor="ctr"/>
          <a:lstStyle/>
          <a:p>
            <a:pPr marL="0" indent="0" algn="l">
              <a:buNone/>
            </a:pPr>
            <a:r>
              <a:rPr lang="en-US" sz="1500" b="1" dirty="0">
                <a:solidFill>
                  <a:srgbClr val="27454F"/>
                </a:solidFill>
                <a:latin typeface="Malgun Gothic" pitchFamily="34" charset="0"/>
                <a:ea typeface="Malgun Gothic" pitchFamily="34" charset="-122"/>
                <a:cs typeface="Malgun Gothic" pitchFamily="34" charset="-120"/>
              </a:rPr>
              <a:t>필터링 없음</a:t>
            </a:r>
            <a:endParaRPr lang="en-US" sz="1500" dirty="0"/>
          </a:p>
        </p:txBody>
      </p:sp>
      <p:sp>
        <p:nvSpPr>
          <p:cNvPr id="20" name="Text 18"/>
          <p:cNvSpPr txBox="1"/>
          <p:nvPr/>
        </p:nvSpPr>
        <p:spPr>
          <a:xfrm>
            <a:off x="2340864" y="2962656"/>
            <a:ext cx="2489911" cy="384048"/>
          </a:xfrm>
          <a:prstGeom prst="rect">
            <a:avLst/>
          </a:prstGeom>
          <a:noFill/>
          <a:ln/>
        </p:spPr>
        <p:txBody>
          <a:bodyPr wrap="square" lIns="0" tIns="0" rIns="0" bIns="0" rtlCol="0" anchor="t"/>
          <a:lstStyle/>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언론 필터링 결과 그대로</a:t>
            </a:r>
            <a:endParaRPr lang="en-US" sz="1150" dirty="0"/>
          </a:p>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기사수 약 21만건 · 현재</a:t>
            </a:r>
            <a:endParaRPr lang="en-US" sz="1150" dirty="0"/>
          </a:p>
        </p:txBody>
      </p:sp>
      <p:sp>
        <p:nvSpPr>
          <p:cNvPr id="21" name="Shape 19"/>
          <p:cNvSpPr/>
          <p:nvPr/>
        </p:nvSpPr>
        <p:spPr>
          <a:xfrm>
            <a:off x="5388559" y="2468880"/>
            <a:ext cx="2965399" cy="1005840"/>
          </a:xfrm>
          <a:prstGeom prst="roundRect">
            <a:avLst>
              <a:gd name="adj" fmla="val 7273"/>
            </a:avLst>
          </a:prstGeom>
          <a:solidFill>
            <a:srgbClr val="EAF4F5"/>
          </a:solidFill>
          <a:ln w="15875">
            <a:solidFill>
              <a:srgbClr val="028090"/>
            </a:solidFill>
            <a:prstDash val="solid"/>
          </a:ln>
        </p:spPr>
      </p:sp>
      <p:sp>
        <p:nvSpPr>
          <p:cNvPr id="22" name="Text 20"/>
          <p:cNvSpPr txBox="1"/>
          <p:nvPr/>
        </p:nvSpPr>
        <p:spPr>
          <a:xfrm>
            <a:off x="5626303" y="2615184"/>
            <a:ext cx="2489911" cy="310896"/>
          </a:xfrm>
          <a:prstGeom prst="rect">
            <a:avLst/>
          </a:prstGeom>
          <a:noFill/>
          <a:ln/>
        </p:spPr>
        <p:txBody>
          <a:bodyPr wrap="square" lIns="0" tIns="0" rIns="0" bIns="0" rtlCol="0" anchor="ctr"/>
          <a:lstStyle/>
          <a:p>
            <a:pPr marL="0" indent="0" algn="l">
              <a:buNone/>
            </a:pPr>
            <a:r>
              <a:rPr lang="en-US" sz="1500" b="1" dirty="0">
                <a:solidFill>
                  <a:srgbClr val="04606B"/>
                </a:solidFill>
                <a:latin typeface="Malgun Gothic" pitchFamily="34" charset="0"/>
                <a:ea typeface="Malgun Gothic" pitchFamily="34" charset="-122"/>
                <a:cs typeface="Malgun Gothic" pitchFamily="34" charset="-120"/>
              </a:rPr>
              <a:t>키워드 </a:t>
            </a:r>
            <a:r>
              <a:rPr lang="en-US" sz="1500" b="1" dirty="0" err="1">
                <a:solidFill>
                  <a:srgbClr val="04606B"/>
                </a:solidFill>
                <a:latin typeface="Malgun Gothic" pitchFamily="34" charset="0"/>
                <a:ea typeface="Malgun Gothic" pitchFamily="34" charset="-122"/>
                <a:cs typeface="Malgun Gothic" pitchFamily="34" charset="-120"/>
              </a:rPr>
              <a:t>기반</a:t>
            </a:r>
            <a:r>
              <a:rPr lang="en-US" sz="1500" b="1" dirty="0">
                <a:solidFill>
                  <a:srgbClr val="04606B"/>
                </a:solidFill>
                <a:latin typeface="Malgun Gothic" pitchFamily="34" charset="0"/>
                <a:ea typeface="Malgun Gothic" pitchFamily="34" charset="-122"/>
                <a:cs typeface="Malgun Gothic" pitchFamily="34" charset="-120"/>
              </a:rPr>
              <a:t> </a:t>
            </a:r>
            <a:r>
              <a:rPr lang="ko-KR" altLang="en-US" sz="1500" b="1" dirty="0">
                <a:solidFill>
                  <a:srgbClr val="04606B"/>
                </a:solidFill>
                <a:latin typeface="Malgun Gothic" pitchFamily="34" charset="0"/>
                <a:ea typeface="Malgun Gothic" pitchFamily="34" charset="-122"/>
                <a:cs typeface="Malgun Gothic" pitchFamily="34" charset="-120"/>
              </a:rPr>
              <a:t>내용 </a:t>
            </a:r>
            <a:r>
              <a:rPr lang="en-US" sz="1500" b="1" dirty="0" err="1">
                <a:solidFill>
                  <a:srgbClr val="04606B"/>
                </a:solidFill>
                <a:latin typeface="Malgun Gothic" pitchFamily="34" charset="0"/>
                <a:ea typeface="Malgun Gothic" pitchFamily="34" charset="-122"/>
                <a:cs typeface="Malgun Gothic" pitchFamily="34" charset="-120"/>
              </a:rPr>
              <a:t>필터링</a:t>
            </a:r>
            <a:endParaRPr lang="en-US" sz="1500" dirty="0"/>
          </a:p>
        </p:txBody>
      </p:sp>
      <p:sp>
        <p:nvSpPr>
          <p:cNvPr id="23" name="Text 21"/>
          <p:cNvSpPr txBox="1"/>
          <p:nvPr/>
        </p:nvSpPr>
        <p:spPr>
          <a:xfrm>
            <a:off x="5626303" y="2962656"/>
            <a:ext cx="2489911" cy="384048"/>
          </a:xfrm>
          <a:prstGeom prst="rect">
            <a:avLst/>
          </a:prstGeom>
          <a:noFill/>
          <a:ln/>
        </p:spPr>
        <p:txBody>
          <a:bodyPr wrap="square" lIns="0" tIns="0" rIns="0" bIns="0" rtlCol="0" anchor="t"/>
          <a:lstStyle/>
          <a:p>
            <a:pPr marL="0" indent="0" algn="l">
              <a:lnSpc>
                <a:spcPct val="130000"/>
              </a:lnSpc>
              <a:buNone/>
            </a:pPr>
            <a:r>
              <a:rPr lang="en-US" sz="1150" dirty="0">
                <a:solidFill>
                  <a:srgbClr val="3D5A61"/>
                </a:solidFill>
                <a:latin typeface="Malgun Gothic" pitchFamily="34" charset="0"/>
                <a:ea typeface="Malgun Gothic" pitchFamily="34" charset="-122"/>
                <a:cs typeface="Malgun Gothic" pitchFamily="34" charset="-120"/>
              </a:rPr>
              <a:t>대기환경 무관 기사 제거</a:t>
            </a:r>
            <a:endParaRPr lang="en-US" sz="1150" dirty="0"/>
          </a:p>
          <a:p>
            <a:pPr marL="0" indent="0" algn="l">
              <a:lnSpc>
                <a:spcPct val="130000"/>
              </a:lnSpc>
              <a:buNone/>
            </a:pPr>
            <a:r>
              <a:rPr lang="en-US" sz="1150" dirty="0">
                <a:solidFill>
                  <a:srgbClr val="3D5A61"/>
                </a:solidFill>
                <a:latin typeface="Malgun Gothic" pitchFamily="34" charset="0"/>
                <a:ea typeface="Malgun Gothic" pitchFamily="34" charset="-122"/>
                <a:cs typeface="Malgun Gothic" pitchFamily="34" charset="-120"/>
              </a:rPr>
              <a:t>수집 키워드 기준</a:t>
            </a:r>
            <a:endParaRPr lang="en-US" sz="1150" dirty="0"/>
          </a:p>
        </p:txBody>
      </p:sp>
      <p:sp>
        <p:nvSpPr>
          <p:cNvPr id="24" name="Shape 22"/>
          <p:cNvSpPr/>
          <p:nvPr/>
        </p:nvSpPr>
        <p:spPr>
          <a:xfrm>
            <a:off x="8673998" y="2468880"/>
            <a:ext cx="2965399" cy="1005840"/>
          </a:xfrm>
          <a:prstGeom prst="roundRect">
            <a:avLst>
              <a:gd name="adj" fmla="val 7273"/>
            </a:avLst>
          </a:prstGeom>
          <a:solidFill>
            <a:srgbClr val="FBF2F0"/>
          </a:solidFill>
          <a:ln w="15875">
            <a:solidFill>
              <a:srgbClr val="B85042"/>
            </a:solidFill>
            <a:prstDash val="solid"/>
          </a:ln>
        </p:spPr>
      </p:sp>
      <p:sp>
        <p:nvSpPr>
          <p:cNvPr id="25" name="Text 23"/>
          <p:cNvSpPr txBox="1"/>
          <p:nvPr/>
        </p:nvSpPr>
        <p:spPr>
          <a:xfrm>
            <a:off x="8911742" y="2615184"/>
            <a:ext cx="2489911" cy="310896"/>
          </a:xfrm>
          <a:prstGeom prst="rect">
            <a:avLst/>
          </a:prstGeom>
          <a:noFill/>
          <a:ln/>
        </p:spPr>
        <p:txBody>
          <a:bodyPr wrap="square" lIns="0" tIns="0" rIns="0" bIns="0" rtlCol="0" anchor="ctr"/>
          <a:lstStyle/>
          <a:p>
            <a:pPr marL="0" indent="0" algn="l">
              <a:buNone/>
            </a:pPr>
            <a:r>
              <a:rPr lang="en-US" sz="1500" b="1" dirty="0">
                <a:solidFill>
                  <a:srgbClr val="8E3A2E"/>
                </a:solidFill>
                <a:latin typeface="Malgun Gothic" pitchFamily="34" charset="0"/>
                <a:ea typeface="Malgun Gothic" pitchFamily="34" charset="-122"/>
                <a:cs typeface="Malgun Gothic" pitchFamily="34" charset="-120"/>
              </a:rPr>
              <a:t>LLM 기반 내용 필터링</a:t>
            </a:r>
            <a:endParaRPr lang="en-US" sz="1500" dirty="0"/>
          </a:p>
        </p:txBody>
      </p:sp>
      <p:sp>
        <p:nvSpPr>
          <p:cNvPr id="26" name="Text 24"/>
          <p:cNvSpPr txBox="1"/>
          <p:nvPr/>
        </p:nvSpPr>
        <p:spPr>
          <a:xfrm>
            <a:off x="8911742" y="2962656"/>
            <a:ext cx="2489911" cy="384048"/>
          </a:xfrm>
          <a:prstGeom prst="rect">
            <a:avLst/>
          </a:prstGeom>
          <a:noFill/>
          <a:ln/>
        </p:spPr>
        <p:txBody>
          <a:bodyPr wrap="square" lIns="0" tIns="0" rIns="0" bIns="0" rtlCol="0" anchor="t"/>
          <a:lstStyle/>
          <a:p>
            <a:pPr marL="0" indent="0" algn="l">
              <a:lnSpc>
                <a:spcPct val="130000"/>
              </a:lnSpc>
              <a:buNone/>
            </a:pPr>
            <a:r>
              <a:rPr lang="en-US" sz="1150" dirty="0">
                <a:solidFill>
                  <a:srgbClr val="6B4640"/>
                </a:solidFill>
                <a:latin typeface="Malgun Gothic" pitchFamily="34" charset="0"/>
                <a:ea typeface="Malgun Gothic" pitchFamily="34" charset="-122"/>
                <a:cs typeface="Malgun Gothic" pitchFamily="34" charset="-120"/>
              </a:rPr>
              <a:t>대기환경 무관 기사 제거</a:t>
            </a:r>
            <a:endParaRPr lang="en-US" sz="1150" dirty="0"/>
          </a:p>
          <a:p>
            <a:pPr marL="0" indent="0" algn="l">
              <a:lnSpc>
                <a:spcPct val="130000"/>
              </a:lnSpc>
              <a:buNone/>
            </a:pPr>
            <a:r>
              <a:rPr lang="en-US" sz="1150" dirty="0">
                <a:solidFill>
                  <a:srgbClr val="6B4640"/>
                </a:solidFill>
                <a:latin typeface="Malgun Gothic" pitchFamily="34" charset="0"/>
                <a:ea typeface="Malgun Gothic" pitchFamily="34" charset="-122"/>
                <a:cs typeface="Malgun Gothic" pitchFamily="34" charset="-120"/>
              </a:rPr>
              <a:t>기사수 약 13만건</a:t>
            </a:r>
            <a:endParaRPr lang="en-US" sz="1150" dirty="0"/>
          </a:p>
        </p:txBody>
      </p:sp>
      <p:sp>
        <p:nvSpPr>
          <p:cNvPr id="27" name="Shape 25"/>
          <p:cNvSpPr/>
          <p:nvPr/>
        </p:nvSpPr>
        <p:spPr>
          <a:xfrm>
            <a:off x="3585820" y="3474720"/>
            <a:ext cx="0" cy="182880"/>
          </a:xfrm>
          <a:prstGeom prst="line">
            <a:avLst/>
          </a:prstGeom>
          <a:noFill/>
          <a:ln w="19050">
            <a:solidFill>
              <a:srgbClr val="7A9299"/>
            </a:solidFill>
            <a:prstDash val="solid"/>
          </a:ln>
        </p:spPr>
      </p:sp>
      <p:sp>
        <p:nvSpPr>
          <p:cNvPr id="28" name="Shape 26"/>
          <p:cNvSpPr/>
          <p:nvPr/>
        </p:nvSpPr>
        <p:spPr>
          <a:xfrm>
            <a:off x="6871259" y="3474720"/>
            <a:ext cx="0" cy="182880"/>
          </a:xfrm>
          <a:prstGeom prst="line">
            <a:avLst/>
          </a:prstGeom>
          <a:noFill/>
          <a:ln w="19050">
            <a:solidFill>
              <a:srgbClr val="7A9299"/>
            </a:solidFill>
            <a:prstDash val="solid"/>
          </a:ln>
        </p:spPr>
      </p:sp>
      <p:sp>
        <p:nvSpPr>
          <p:cNvPr id="29" name="Shape 27"/>
          <p:cNvSpPr/>
          <p:nvPr/>
        </p:nvSpPr>
        <p:spPr>
          <a:xfrm>
            <a:off x="10156698" y="3474720"/>
            <a:ext cx="0" cy="182880"/>
          </a:xfrm>
          <a:prstGeom prst="line">
            <a:avLst/>
          </a:prstGeom>
          <a:noFill/>
          <a:ln w="19050">
            <a:solidFill>
              <a:srgbClr val="7A9299"/>
            </a:solidFill>
            <a:prstDash val="solid"/>
          </a:ln>
        </p:spPr>
      </p:sp>
      <p:sp>
        <p:nvSpPr>
          <p:cNvPr id="30" name="Shape 28"/>
          <p:cNvSpPr/>
          <p:nvPr/>
        </p:nvSpPr>
        <p:spPr>
          <a:xfrm>
            <a:off x="3585820" y="3657600"/>
            <a:ext cx="6570878" cy="0"/>
          </a:xfrm>
          <a:prstGeom prst="line">
            <a:avLst/>
          </a:prstGeom>
          <a:noFill/>
          <a:ln w="19050">
            <a:solidFill>
              <a:srgbClr val="7A9299"/>
            </a:solidFill>
            <a:prstDash val="solid"/>
          </a:ln>
        </p:spPr>
      </p:sp>
      <p:sp>
        <p:nvSpPr>
          <p:cNvPr id="31" name="Shape 29"/>
          <p:cNvSpPr/>
          <p:nvPr/>
        </p:nvSpPr>
        <p:spPr>
          <a:xfrm>
            <a:off x="4389120" y="3657600"/>
            <a:ext cx="0" cy="320040"/>
          </a:xfrm>
          <a:prstGeom prst="line">
            <a:avLst/>
          </a:prstGeom>
          <a:noFill/>
          <a:ln w="19050">
            <a:solidFill>
              <a:srgbClr val="7A9299"/>
            </a:solidFill>
            <a:prstDash val="solid"/>
            <a:tailEnd type="triangle"/>
          </a:ln>
        </p:spPr>
      </p:sp>
      <p:sp>
        <p:nvSpPr>
          <p:cNvPr id="32" name="Shape 30"/>
          <p:cNvSpPr/>
          <p:nvPr/>
        </p:nvSpPr>
        <p:spPr>
          <a:xfrm>
            <a:off x="9354312" y="3657600"/>
            <a:ext cx="0" cy="320040"/>
          </a:xfrm>
          <a:prstGeom prst="line">
            <a:avLst/>
          </a:prstGeom>
          <a:noFill/>
          <a:ln w="19050">
            <a:solidFill>
              <a:srgbClr val="7A9299"/>
            </a:solidFill>
            <a:prstDash val="solid"/>
            <a:tailEnd type="triangle"/>
          </a:ln>
        </p:spPr>
      </p:sp>
      <p:sp>
        <p:nvSpPr>
          <p:cNvPr id="33" name="Text 31"/>
          <p:cNvSpPr txBox="1"/>
          <p:nvPr/>
        </p:nvSpPr>
        <p:spPr>
          <a:xfrm>
            <a:off x="548640" y="3977640"/>
            <a:ext cx="1325880" cy="731520"/>
          </a:xfrm>
          <a:prstGeom prst="rect">
            <a:avLst/>
          </a:prstGeom>
          <a:noFill/>
          <a:ln/>
        </p:spPr>
        <p:txBody>
          <a:bodyPr wrap="square" lIns="0" tIns="0" rIns="0" bIns="0" rtlCol="0" anchor="ctr"/>
          <a:lstStyle/>
          <a:p>
            <a:pPr marL="0" indent="0" algn="r">
              <a:buNone/>
            </a:pPr>
            <a:r>
              <a:rPr lang="en-US" sz="1100" b="1" dirty="0">
                <a:solidFill>
                  <a:srgbClr val="7A9299"/>
                </a:solidFill>
                <a:latin typeface="Malgun Gothic" pitchFamily="34" charset="0"/>
                <a:ea typeface="Malgun Gothic" pitchFamily="34" charset="-122"/>
                <a:cs typeface="Malgun Gothic" pitchFamily="34" charset="-120"/>
              </a:rPr>
              <a:t>산출 지수</a:t>
            </a:r>
            <a:endParaRPr lang="en-US" sz="1100" dirty="0"/>
          </a:p>
        </p:txBody>
      </p:sp>
      <p:sp>
        <p:nvSpPr>
          <p:cNvPr id="34" name="Shape 32"/>
          <p:cNvSpPr/>
          <p:nvPr/>
        </p:nvSpPr>
        <p:spPr>
          <a:xfrm>
            <a:off x="2103120" y="3977640"/>
            <a:ext cx="4572000" cy="2423160"/>
          </a:xfrm>
          <a:prstGeom prst="roundRect">
            <a:avLst>
              <a:gd name="adj" fmla="val 3774"/>
            </a:avLst>
          </a:prstGeom>
          <a:solidFill>
            <a:srgbClr val="F4F7F8"/>
          </a:solidFill>
          <a:ln/>
        </p:spPr>
      </p:sp>
      <p:sp>
        <p:nvSpPr>
          <p:cNvPr id="35" name="Shape 33"/>
          <p:cNvSpPr/>
          <p:nvPr/>
        </p:nvSpPr>
        <p:spPr>
          <a:xfrm>
            <a:off x="7068312" y="3977640"/>
            <a:ext cx="4572000" cy="2423160"/>
          </a:xfrm>
          <a:prstGeom prst="roundRect">
            <a:avLst>
              <a:gd name="adj" fmla="val 3774"/>
            </a:avLst>
          </a:prstGeom>
          <a:solidFill>
            <a:srgbClr val="F4F7F8"/>
          </a:solidFill>
          <a:ln/>
        </p:spPr>
      </p:sp>
      <p:sp>
        <p:nvSpPr>
          <p:cNvPr id="36" name="Text 34"/>
          <p:cNvSpPr txBox="1"/>
          <p:nvPr/>
        </p:nvSpPr>
        <p:spPr>
          <a:xfrm>
            <a:off x="2331720" y="4096512"/>
            <a:ext cx="4114800" cy="329184"/>
          </a:xfrm>
          <a:prstGeom prst="rect">
            <a:avLst/>
          </a:prstGeom>
          <a:noFill/>
          <a:ln/>
        </p:spPr>
        <p:txBody>
          <a:bodyPr wrap="square" lIns="0" tIns="0" rIns="0" bIns="0" rtlCol="0" anchor="ctr"/>
          <a:lstStyle/>
          <a:p>
            <a:pPr marL="0" indent="0" algn="l">
              <a:buNone/>
            </a:pPr>
            <a:r>
              <a:rPr lang="en-US" sz="1700" b="1" dirty="0">
                <a:solidFill>
                  <a:srgbClr val="14343B"/>
                </a:solidFill>
                <a:latin typeface="Malgun Gothic" pitchFamily="34" charset="0"/>
                <a:ea typeface="Malgun Gothic" pitchFamily="34" charset="-122"/>
                <a:cs typeface="Malgun Gothic" pitchFamily="34" charset="-120"/>
              </a:rPr>
              <a:t>관심도 지수 · 3안</a:t>
            </a:r>
            <a:endParaRPr lang="en-US" sz="1700" dirty="0">
              <a:solidFill>
                <a:srgbClr val="FF0000"/>
              </a:solidFill>
            </a:endParaRPr>
          </a:p>
        </p:txBody>
      </p:sp>
      <p:sp>
        <p:nvSpPr>
          <p:cNvPr id="37" name="Text 35"/>
          <p:cNvSpPr txBox="1"/>
          <p:nvPr/>
        </p:nvSpPr>
        <p:spPr>
          <a:xfrm>
            <a:off x="7296912" y="4096512"/>
            <a:ext cx="4114800" cy="329184"/>
          </a:xfrm>
          <a:prstGeom prst="rect">
            <a:avLst/>
          </a:prstGeom>
          <a:noFill/>
          <a:ln/>
        </p:spPr>
        <p:txBody>
          <a:bodyPr wrap="square" lIns="0" tIns="0" rIns="0" bIns="0" rtlCol="0" anchor="ctr"/>
          <a:lstStyle/>
          <a:p>
            <a:pPr marL="0" indent="0" algn="l">
              <a:buNone/>
            </a:pPr>
            <a:r>
              <a:rPr lang="en-US" sz="1700" b="1" dirty="0">
                <a:solidFill>
                  <a:srgbClr val="14343B"/>
                </a:solidFill>
                <a:latin typeface="Malgun Gothic" pitchFamily="34" charset="0"/>
                <a:ea typeface="Malgun Gothic" pitchFamily="34" charset="-122"/>
                <a:cs typeface="Malgun Gothic" pitchFamily="34" charset="-120"/>
              </a:rPr>
              <a:t>요구도 지수 · 4안 </a:t>
            </a:r>
            <a:endParaRPr lang="en-US" sz="1700" dirty="0">
              <a:solidFill>
                <a:srgbClr val="FF0000"/>
              </a:solidFill>
            </a:endParaRPr>
          </a:p>
        </p:txBody>
      </p:sp>
      <p:sp>
        <p:nvSpPr>
          <p:cNvPr id="38" name="Shape 36"/>
          <p:cNvSpPr/>
          <p:nvPr/>
        </p:nvSpPr>
        <p:spPr>
          <a:xfrm>
            <a:off x="2331720" y="4517136"/>
            <a:ext cx="4114800" cy="384048"/>
          </a:xfrm>
          <a:prstGeom prst="roundRect">
            <a:avLst>
              <a:gd name="adj" fmla="val 21429"/>
            </a:avLst>
          </a:prstGeom>
          <a:solidFill>
            <a:srgbClr val="FFFFFF"/>
          </a:solidFill>
          <a:ln w="9525">
            <a:solidFill>
              <a:srgbClr val="D5DFE2"/>
            </a:solidFill>
            <a:prstDash val="solid"/>
          </a:ln>
        </p:spPr>
      </p:sp>
      <p:sp>
        <p:nvSpPr>
          <p:cNvPr id="39" name="Text 37"/>
          <p:cNvSpPr txBox="1"/>
          <p:nvPr/>
        </p:nvSpPr>
        <p:spPr>
          <a:xfrm>
            <a:off x="2496312" y="4517136"/>
            <a:ext cx="3785616" cy="384048"/>
          </a:xfrm>
          <a:prstGeom prst="rect">
            <a:avLst/>
          </a:prstGeom>
          <a:noFill/>
          <a:ln/>
        </p:spPr>
        <p:txBody>
          <a:bodyPr wrap="square" lIns="0" tIns="0" rIns="0" bIns="0" rtlCol="0" anchor="ctr"/>
          <a:lstStyle/>
          <a:p>
            <a:pPr marL="0" indent="0" algn="l">
              <a:buNone/>
            </a:pPr>
            <a:r>
              <a:rPr lang="en-US" sz="1100" b="1" dirty="0">
                <a:solidFill>
                  <a:srgbClr val="6B7D82"/>
                </a:solidFill>
                <a:latin typeface="Malgun Gothic" pitchFamily="34" charset="0"/>
                <a:ea typeface="Malgun Gothic" pitchFamily="34" charset="-122"/>
                <a:cs typeface="Malgun Gothic" pitchFamily="34" charset="-120"/>
              </a:rPr>
              <a:t>A   </a:t>
            </a:r>
            <a:r>
              <a:rPr lang="en-US" sz="1100" b="1" dirty="0">
                <a:solidFill>
                  <a:srgbClr val="27454F"/>
                </a:solidFill>
                <a:latin typeface="Malgun Gothic" pitchFamily="34" charset="0"/>
                <a:ea typeface="Malgun Gothic" pitchFamily="34" charset="-122"/>
                <a:cs typeface="Malgun Gothic" pitchFamily="34" charset="-120"/>
              </a:rPr>
              <a:t>필터링 없음</a:t>
            </a:r>
            <a:r>
              <a:rPr lang="en-US" sz="1000" dirty="0">
                <a:solidFill>
                  <a:srgbClr val="6B7D82"/>
                </a:solidFill>
                <a:latin typeface="Malgun Gothic" pitchFamily="34" charset="0"/>
                <a:ea typeface="Malgun Gothic" pitchFamily="34" charset="-122"/>
                <a:cs typeface="Malgun Gothic" pitchFamily="34" charset="-120"/>
              </a:rPr>
              <a:t>   · 현재</a:t>
            </a:r>
            <a:endParaRPr lang="en-US" sz="1100" dirty="0"/>
          </a:p>
        </p:txBody>
      </p:sp>
      <p:sp>
        <p:nvSpPr>
          <p:cNvPr id="40" name="Shape 38"/>
          <p:cNvSpPr/>
          <p:nvPr/>
        </p:nvSpPr>
        <p:spPr>
          <a:xfrm>
            <a:off x="2331720" y="4974336"/>
            <a:ext cx="4114800" cy="384048"/>
          </a:xfrm>
          <a:prstGeom prst="roundRect">
            <a:avLst>
              <a:gd name="adj" fmla="val 21429"/>
            </a:avLst>
          </a:prstGeom>
          <a:solidFill>
            <a:srgbClr val="FFFFFF"/>
          </a:solidFill>
          <a:ln w="9525">
            <a:solidFill>
              <a:srgbClr val="D5DFE2"/>
            </a:solidFill>
            <a:prstDash val="solid"/>
          </a:ln>
        </p:spPr>
      </p:sp>
      <p:sp>
        <p:nvSpPr>
          <p:cNvPr id="41" name="Text 39"/>
          <p:cNvSpPr txBox="1"/>
          <p:nvPr/>
        </p:nvSpPr>
        <p:spPr>
          <a:xfrm>
            <a:off x="2496312" y="4974336"/>
            <a:ext cx="3785616" cy="384048"/>
          </a:xfrm>
          <a:prstGeom prst="rect">
            <a:avLst/>
          </a:prstGeom>
          <a:noFill/>
          <a:ln/>
        </p:spPr>
        <p:txBody>
          <a:bodyPr wrap="square" lIns="0" tIns="0" rIns="0" bIns="0" rtlCol="0" anchor="ctr"/>
          <a:lstStyle/>
          <a:p>
            <a:pPr marL="0" indent="0" algn="l">
              <a:buNone/>
            </a:pPr>
            <a:r>
              <a:rPr lang="en-US" sz="1100" b="1" dirty="0">
                <a:solidFill>
                  <a:srgbClr val="6B7D82"/>
                </a:solidFill>
                <a:latin typeface="Malgun Gothic" pitchFamily="34" charset="0"/>
                <a:ea typeface="Malgun Gothic" pitchFamily="34" charset="-122"/>
                <a:cs typeface="Malgun Gothic" pitchFamily="34" charset="-120"/>
              </a:rPr>
              <a:t>B   </a:t>
            </a:r>
            <a:r>
              <a:rPr lang="en-US" sz="1100" b="1" dirty="0">
                <a:solidFill>
                  <a:srgbClr val="04606B"/>
                </a:solidFill>
                <a:latin typeface="Malgun Gothic" pitchFamily="34" charset="0"/>
                <a:ea typeface="Malgun Gothic" pitchFamily="34" charset="-122"/>
                <a:cs typeface="Malgun Gothic" pitchFamily="34" charset="-120"/>
              </a:rPr>
              <a:t>키워드 기반 2차 필터링</a:t>
            </a:r>
            <a:r>
              <a:rPr lang="en-US" sz="1000" dirty="0">
                <a:solidFill>
                  <a:srgbClr val="6B7D82"/>
                </a:solidFill>
                <a:latin typeface="Malgun Gothic" pitchFamily="34" charset="0"/>
                <a:ea typeface="Malgun Gothic" pitchFamily="34" charset="-122"/>
                <a:cs typeface="Malgun Gothic" pitchFamily="34" charset="-120"/>
              </a:rPr>
              <a:t>   · </a:t>
            </a:r>
            <a:r>
              <a:rPr lang="ko-KR" altLang="en-US" sz="1000" dirty="0">
                <a:solidFill>
                  <a:srgbClr val="6B7D82"/>
                </a:solidFill>
                <a:latin typeface="Malgun Gothic" pitchFamily="34" charset="0"/>
                <a:ea typeface="Malgun Gothic" pitchFamily="34" charset="-122"/>
                <a:cs typeface="Malgun Gothic" pitchFamily="34" charset="-120"/>
              </a:rPr>
              <a:t>검토</a:t>
            </a:r>
            <a:endParaRPr lang="en-US" sz="1100" dirty="0"/>
          </a:p>
        </p:txBody>
      </p:sp>
      <p:sp>
        <p:nvSpPr>
          <p:cNvPr id="42" name="Shape 40"/>
          <p:cNvSpPr/>
          <p:nvPr/>
        </p:nvSpPr>
        <p:spPr>
          <a:xfrm>
            <a:off x="2331720" y="5431536"/>
            <a:ext cx="4114800" cy="384048"/>
          </a:xfrm>
          <a:prstGeom prst="roundRect">
            <a:avLst>
              <a:gd name="adj" fmla="val 21429"/>
            </a:avLst>
          </a:prstGeom>
          <a:solidFill>
            <a:srgbClr val="FFFFFF"/>
          </a:solidFill>
          <a:ln w="9525">
            <a:solidFill>
              <a:srgbClr val="D5DFE2"/>
            </a:solidFill>
            <a:prstDash val="solid"/>
          </a:ln>
        </p:spPr>
      </p:sp>
      <p:sp>
        <p:nvSpPr>
          <p:cNvPr id="43" name="Text 41"/>
          <p:cNvSpPr txBox="1"/>
          <p:nvPr/>
        </p:nvSpPr>
        <p:spPr>
          <a:xfrm>
            <a:off x="2496312" y="5431536"/>
            <a:ext cx="3785616" cy="384048"/>
          </a:xfrm>
          <a:prstGeom prst="rect">
            <a:avLst/>
          </a:prstGeom>
          <a:noFill/>
          <a:ln/>
        </p:spPr>
        <p:txBody>
          <a:bodyPr wrap="square" lIns="0" tIns="0" rIns="0" bIns="0" rtlCol="0" anchor="ctr"/>
          <a:lstStyle/>
          <a:p>
            <a:pPr marL="0" indent="0" algn="l">
              <a:buNone/>
            </a:pPr>
            <a:r>
              <a:rPr lang="en-US" sz="1100" b="1" dirty="0">
                <a:solidFill>
                  <a:srgbClr val="6B7D82"/>
                </a:solidFill>
                <a:latin typeface="Malgun Gothic" pitchFamily="34" charset="0"/>
                <a:ea typeface="Malgun Gothic" pitchFamily="34" charset="-122"/>
                <a:cs typeface="Malgun Gothic" pitchFamily="34" charset="-120"/>
              </a:rPr>
              <a:t>C   </a:t>
            </a:r>
            <a:r>
              <a:rPr lang="en-US" sz="1100" b="1" dirty="0">
                <a:solidFill>
                  <a:srgbClr val="8E3A2E"/>
                </a:solidFill>
                <a:latin typeface="Malgun Gothic" pitchFamily="34" charset="0"/>
                <a:ea typeface="Malgun Gothic" pitchFamily="34" charset="-122"/>
                <a:cs typeface="Malgun Gothic" pitchFamily="34" charset="-120"/>
              </a:rPr>
              <a:t>LLM 기반 내용 필터링</a:t>
            </a:r>
            <a:endParaRPr lang="en-US" sz="1100" dirty="0"/>
          </a:p>
        </p:txBody>
      </p:sp>
      <p:sp>
        <p:nvSpPr>
          <p:cNvPr id="44" name="Text 42"/>
          <p:cNvSpPr txBox="1"/>
          <p:nvPr/>
        </p:nvSpPr>
        <p:spPr>
          <a:xfrm>
            <a:off x="2331720" y="5888736"/>
            <a:ext cx="4114800" cy="457200"/>
          </a:xfrm>
          <a:prstGeom prst="rect">
            <a:avLst/>
          </a:prstGeom>
          <a:noFill/>
          <a:ln/>
        </p:spPr>
        <p:txBody>
          <a:bodyPr wrap="square" lIns="0" tIns="0" rIns="0" bIns="0" rtlCol="0" anchor="t"/>
          <a:lstStyle/>
          <a:p>
            <a:pPr marL="0" indent="0" algn="l">
              <a:lnSpc>
                <a:spcPct val="130000"/>
              </a:lnSpc>
              <a:buNone/>
            </a:pPr>
            <a:r>
              <a:rPr lang="en-US" sz="1100" dirty="0">
                <a:solidFill>
                  <a:srgbClr val="6B7D82"/>
                </a:solidFill>
                <a:latin typeface="Malgun Gothic" pitchFamily="34" charset="0"/>
                <a:ea typeface="Malgun Gothic" pitchFamily="34" charset="-122"/>
                <a:cs typeface="Malgun Gothic" pitchFamily="34" charset="-120"/>
              </a:rPr>
              <a:t>필터링 통과 기사수가 곧 지수</a:t>
            </a:r>
            <a:endParaRPr lang="en-US" sz="1100" dirty="0"/>
          </a:p>
          <a:p>
            <a:pPr marL="0" indent="0" algn="l">
              <a:lnSpc>
                <a:spcPct val="130000"/>
              </a:lnSpc>
              <a:buNone/>
            </a:pPr>
            <a:r>
              <a:rPr lang="en-US" sz="1100" dirty="0">
                <a:solidFill>
                  <a:srgbClr val="6B7D82"/>
                </a:solidFill>
                <a:latin typeface="Malgun Gothic" pitchFamily="34" charset="0"/>
                <a:ea typeface="Malgun Gothic" pitchFamily="34" charset="-122"/>
                <a:cs typeface="Malgun Gothic" pitchFamily="34" charset="-120"/>
              </a:rPr>
              <a:t>산출 후 키워드로 세부 분류</a:t>
            </a:r>
            <a:endParaRPr lang="en-US" sz="1100" dirty="0"/>
          </a:p>
        </p:txBody>
      </p:sp>
      <p:sp>
        <p:nvSpPr>
          <p:cNvPr id="45" name="Shape 43"/>
          <p:cNvSpPr/>
          <p:nvPr/>
        </p:nvSpPr>
        <p:spPr>
          <a:xfrm>
            <a:off x="7296912" y="4517136"/>
            <a:ext cx="4114800" cy="384048"/>
          </a:xfrm>
          <a:prstGeom prst="roundRect">
            <a:avLst>
              <a:gd name="adj" fmla="val 21429"/>
            </a:avLst>
          </a:prstGeom>
          <a:solidFill>
            <a:srgbClr val="FFFFFF"/>
          </a:solidFill>
          <a:ln w="9525">
            <a:solidFill>
              <a:srgbClr val="D5DFE2"/>
            </a:solidFill>
            <a:prstDash val="solid"/>
          </a:ln>
        </p:spPr>
      </p:sp>
      <p:sp>
        <p:nvSpPr>
          <p:cNvPr id="46" name="Text 44"/>
          <p:cNvSpPr txBox="1"/>
          <p:nvPr/>
        </p:nvSpPr>
        <p:spPr>
          <a:xfrm>
            <a:off x="7461504" y="4517136"/>
            <a:ext cx="3785616" cy="384048"/>
          </a:xfrm>
          <a:prstGeom prst="rect">
            <a:avLst/>
          </a:prstGeom>
          <a:noFill/>
          <a:ln/>
        </p:spPr>
        <p:txBody>
          <a:bodyPr wrap="square" lIns="0" tIns="0" rIns="0" bIns="0" rtlCol="0" anchor="ctr"/>
          <a:lstStyle/>
          <a:p>
            <a:pPr marL="0" indent="0" algn="l">
              <a:buNone/>
            </a:pPr>
            <a:r>
              <a:rPr lang="en-US" sz="1100" b="1" dirty="0">
                <a:solidFill>
                  <a:srgbClr val="6B7D82"/>
                </a:solidFill>
                <a:latin typeface="Malgun Gothic" pitchFamily="34" charset="0"/>
                <a:ea typeface="Malgun Gothic" pitchFamily="34" charset="-122"/>
                <a:cs typeface="Malgun Gothic" pitchFamily="34" charset="-120"/>
              </a:rPr>
              <a:t>1   </a:t>
            </a:r>
            <a:r>
              <a:rPr lang="en-US" sz="1100" b="1" dirty="0">
                <a:solidFill>
                  <a:srgbClr val="04606B"/>
                </a:solidFill>
                <a:latin typeface="Malgun Gothic" pitchFamily="34" charset="0"/>
                <a:ea typeface="Malgun Gothic" pitchFamily="34" charset="-122"/>
                <a:cs typeface="Malgun Gothic" pitchFamily="34" charset="-120"/>
              </a:rPr>
              <a:t>키워드 필터링</a:t>
            </a:r>
            <a:r>
              <a:rPr lang="en-US" sz="1100" dirty="0">
                <a:solidFill>
                  <a:srgbClr val="6B7D82"/>
                </a:solidFill>
                <a:latin typeface="Malgun Gothic" pitchFamily="34" charset="0"/>
                <a:ea typeface="Malgun Gothic" pitchFamily="34" charset="-122"/>
                <a:cs typeface="Malgun Gothic" pitchFamily="34" charset="-120"/>
              </a:rPr>
              <a:t>  →  </a:t>
            </a:r>
            <a:r>
              <a:rPr lang="en-US" sz="1100" b="1" dirty="0">
                <a:solidFill>
                  <a:srgbClr val="8E3A2E"/>
                </a:solidFill>
                <a:latin typeface="Malgun Gothic" pitchFamily="34" charset="0"/>
                <a:ea typeface="Malgun Gothic" pitchFamily="34" charset="-122"/>
                <a:cs typeface="Malgun Gothic" pitchFamily="34" charset="-120"/>
              </a:rPr>
              <a:t>LLM </a:t>
            </a:r>
            <a:r>
              <a:rPr lang="ko-KR" altLang="en-US" sz="1100" b="1" dirty="0">
                <a:solidFill>
                  <a:srgbClr val="8E3A2E"/>
                </a:solidFill>
                <a:latin typeface="Malgun Gothic" pitchFamily="34" charset="0"/>
                <a:ea typeface="Malgun Gothic" pitchFamily="34" charset="-122"/>
                <a:cs typeface="Malgun Gothic" pitchFamily="34" charset="-120"/>
              </a:rPr>
              <a:t>요구도 지수 계산</a:t>
            </a:r>
            <a:endParaRPr lang="en-US" sz="1100" dirty="0"/>
          </a:p>
        </p:txBody>
      </p:sp>
      <p:sp>
        <p:nvSpPr>
          <p:cNvPr id="47" name="Shape 45"/>
          <p:cNvSpPr/>
          <p:nvPr/>
        </p:nvSpPr>
        <p:spPr>
          <a:xfrm>
            <a:off x="7296912" y="4974336"/>
            <a:ext cx="4114800" cy="384048"/>
          </a:xfrm>
          <a:prstGeom prst="roundRect">
            <a:avLst>
              <a:gd name="adj" fmla="val 21429"/>
            </a:avLst>
          </a:prstGeom>
          <a:solidFill>
            <a:srgbClr val="FFFFFF"/>
          </a:solidFill>
          <a:ln w="9525">
            <a:solidFill>
              <a:srgbClr val="D5DFE2"/>
            </a:solidFill>
            <a:prstDash val="solid"/>
          </a:ln>
        </p:spPr>
      </p:sp>
      <p:sp>
        <p:nvSpPr>
          <p:cNvPr id="48" name="Text 46"/>
          <p:cNvSpPr txBox="1"/>
          <p:nvPr/>
        </p:nvSpPr>
        <p:spPr>
          <a:xfrm>
            <a:off x="7461504" y="4974336"/>
            <a:ext cx="3785616" cy="384048"/>
          </a:xfrm>
          <a:prstGeom prst="rect">
            <a:avLst/>
          </a:prstGeom>
          <a:noFill/>
          <a:ln/>
        </p:spPr>
        <p:txBody>
          <a:bodyPr wrap="square" lIns="0" tIns="0" rIns="0" bIns="0" rtlCol="0" anchor="ctr"/>
          <a:lstStyle/>
          <a:p>
            <a:pPr marL="0" indent="0" algn="l">
              <a:buNone/>
            </a:pPr>
            <a:r>
              <a:rPr lang="en-US" sz="1100" b="1" dirty="0">
                <a:solidFill>
                  <a:srgbClr val="6B7D82"/>
                </a:solidFill>
                <a:latin typeface="Malgun Gothic" pitchFamily="34" charset="0"/>
                <a:ea typeface="Malgun Gothic" pitchFamily="34" charset="-122"/>
                <a:cs typeface="Malgun Gothic" pitchFamily="34" charset="-120"/>
              </a:rPr>
              <a:t>2   </a:t>
            </a:r>
            <a:r>
              <a:rPr lang="en-US" sz="1100" b="1" dirty="0">
                <a:solidFill>
                  <a:srgbClr val="04606B"/>
                </a:solidFill>
                <a:latin typeface="Malgun Gothic" pitchFamily="34" charset="0"/>
                <a:ea typeface="Malgun Gothic" pitchFamily="34" charset="-122"/>
                <a:cs typeface="Malgun Gothic" pitchFamily="34" charset="-120"/>
              </a:rPr>
              <a:t>키워드 필터링</a:t>
            </a:r>
            <a:r>
              <a:rPr lang="en-US" sz="1100" dirty="0">
                <a:solidFill>
                  <a:srgbClr val="6B7D82"/>
                </a:solidFill>
                <a:latin typeface="Malgun Gothic" pitchFamily="34" charset="0"/>
                <a:ea typeface="Malgun Gothic" pitchFamily="34" charset="-122"/>
                <a:cs typeface="Malgun Gothic" pitchFamily="34" charset="-120"/>
              </a:rPr>
              <a:t>  →  </a:t>
            </a:r>
            <a:r>
              <a:rPr lang="en-US" sz="1100" b="1" dirty="0">
                <a:solidFill>
                  <a:srgbClr val="04606B"/>
                </a:solidFill>
                <a:latin typeface="Malgun Gothic" pitchFamily="34" charset="0"/>
                <a:ea typeface="Malgun Gothic" pitchFamily="34" charset="-122"/>
                <a:cs typeface="Malgun Gothic" pitchFamily="34" charset="-120"/>
              </a:rPr>
              <a:t>키워드 요구선별</a:t>
            </a:r>
            <a:endParaRPr lang="en-US" sz="1100" dirty="0"/>
          </a:p>
        </p:txBody>
      </p:sp>
      <p:sp>
        <p:nvSpPr>
          <p:cNvPr id="49" name="Shape 47"/>
          <p:cNvSpPr/>
          <p:nvPr/>
        </p:nvSpPr>
        <p:spPr>
          <a:xfrm>
            <a:off x="7296912" y="5431536"/>
            <a:ext cx="4114800" cy="384048"/>
          </a:xfrm>
          <a:prstGeom prst="roundRect">
            <a:avLst>
              <a:gd name="adj" fmla="val 21429"/>
            </a:avLst>
          </a:prstGeom>
          <a:solidFill>
            <a:srgbClr val="FFFFFF"/>
          </a:solidFill>
          <a:ln w="9525">
            <a:solidFill>
              <a:srgbClr val="D5DFE2"/>
            </a:solidFill>
            <a:prstDash val="solid"/>
          </a:ln>
        </p:spPr>
      </p:sp>
      <p:sp>
        <p:nvSpPr>
          <p:cNvPr id="50" name="Text 48"/>
          <p:cNvSpPr txBox="1"/>
          <p:nvPr/>
        </p:nvSpPr>
        <p:spPr>
          <a:xfrm>
            <a:off x="7461504" y="5431536"/>
            <a:ext cx="3785616" cy="384048"/>
          </a:xfrm>
          <a:prstGeom prst="rect">
            <a:avLst/>
          </a:prstGeom>
          <a:noFill/>
          <a:ln/>
        </p:spPr>
        <p:txBody>
          <a:bodyPr wrap="square" lIns="0" tIns="0" rIns="0" bIns="0" rtlCol="0" anchor="ctr"/>
          <a:lstStyle/>
          <a:p>
            <a:r>
              <a:rPr lang="en-US" sz="1100" b="1" dirty="0">
                <a:solidFill>
                  <a:srgbClr val="6B7D82"/>
                </a:solidFill>
                <a:latin typeface="Malgun Gothic" pitchFamily="34" charset="0"/>
                <a:ea typeface="Malgun Gothic" pitchFamily="34" charset="-122"/>
                <a:cs typeface="Malgun Gothic" pitchFamily="34" charset="-120"/>
              </a:rPr>
              <a:t>3   </a:t>
            </a:r>
            <a:r>
              <a:rPr lang="en-US" sz="1100" b="1" dirty="0">
                <a:solidFill>
                  <a:srgbClr val="8E3A2E"/>
                </a:solidFill>
                <a:latin typeface="Malgun Gothic" pitchFamily="34" charset="0"/>
                <a:ea typeface="Malgun Gothic" pitchFamily="34" charset="-122"/>
                <a:cs typeface="Malgun Gothic" pitchFamily="34" charset="-120"/>
              </a:rPr>
              <a:t>LLM 필터링</a:t>
            </a:r>
            <a:r>
              <a:rPr lang="en-US" sz="1100" dirty="0">
                <a:solidFill>
                  <a:srgbClr val="6B7D82"/>
                </a:solidFill>
                <a:latin typeface="Malgun Gothic" pitchFamily="34" charset="0"/>
                <a:ea typeface="Malgun Gothic" pitchFamily="34" charset="-122"/>
                <a:cs typeface="Malgun Gothic" pitchFamily="34" charset="-120"/>
              </a:rPr>
              <a:t>  →  </a:t>
            </a:r>
            <a:r>
              <a:rPr lang="en-US" altLang="ko-KR" sz="1100" b="1" dirty="0">
                <a:solidFill>
                  <a:srgbClr val="8E3A2E"/>
                </a:solidFill>
                <a:latin typeface="Malgun Gothic" pitchFamily="34" charset="0"/>
                <a:ea typeface="Malgun Gothic" pitchFamily="34" charset="-122"/>
                <a:cs typeface="Malgun Gothic" pitchFamily="34" charset="-120"/>
              </a:rPr>
              <a:t>LLM </a:t>
            </a:r>
            <a:r>
              <a:rPr lang="ko-KR" altLang="en-US" sz="1100" b="1" dirty="0">
                <a:solidFill>
                  <a:srgbClr val="8E3A2E"/>
                </a:solidFill>
                <a:latin typeface="Malgun Gothic" pitchFamily="34" charset="0"/>
                <a:ea typeface="Malgun Gothic" pitchFamily="34" charset="-122"/>
                <a:cs typeface="Malgun Gothic" pitchFamily="34" charset="-120"/>
              </a:rPr>
              <a:t>요구도 지수 계산</a:t>
            </a:r>
            <a:endParaRPr lang="en-US" sz="1100" dirty="0"/>
          </a:p>
        </p:txBody>
      </p:sp>
      <p:sp>
        <p:nvSpPr>
          <p:cNvPr id="51" name="Shape 49"/>
          <p:cNvSpPr/>
          <p:nvPr/>
        </p:nvSpPr>
        <p:spPr>
          <a:xfrm>
            <a:off x="7296912" y="5888736"/>
            <a:ext cx="4114800" cy="384048"/>
          </a:xfrm>
          <a:prstGeom prst="roundRect">
            <a:avLst>
              <a:gd name="adj" fmla="val 21429"/>
            </a:avLst>
          </a:prstGeom>
          <a:solidFill>
            <a:srgbClr val="FFFFFF"/>
          </a:solidFill>
          <a:ln w="9525">
            <a:solidFill>
              <a:srgbClr val="D5DFE2"/>
            </a:solidFill>
            <a:prstDash val="solid"/>
          </a:ln>
        </p:spPr>
      </p:sp>
      <p:sp>
        <p:nvSpPr>
          <p:cNvPr id="52" name="Text 50"/>
          <p:cNvSpPr txBox="1"/>
          <p:nvPr/>
        </p:nvSpPr>
        <p:spPr>
          <a:xfrm>
            <a:off x="7461504" y="5888736"/>
            <a:ext cx="3785616" cy="384048"/>
          </a:xfrm>
          <a:prstGeom prst="rect">
            <a:avLst/>
          </a:prstGeom>
          <a:noFill/>
          <a:ln/>
        </p:spPr>
        <p:txBody>
          <a:bodyPr wrap="square" lIns="0" tIns="0" rIns="0" bIns="0" rtlCol="0" anchor="ctr"/>
          <a:lstStyle/>
          <a:p>
            <a:pPr marL="0" indent="0" algn="l">
              <a:buNone/>
            </a:pPr>
            <a:r>
              <a:rPr lang="en-US" sz="1100" b="1" dirty="0">
                <a:solidFill>
                  <a:srgbClr val="6B7D82"/>
                </a:solidFill>
                <a:latin typeface="Malgun Gothic" pitchFamily="34" charset="0"/>
                <a:ea typeface="Malgun Gothic" pitchFamily="34" charset="-122"/>
                <a:cs typeface="Malgun Gothic" pitchFamily="34" charset="-120"/>
              </a:rPr>
              <a:t>4   </a:t>
            </a:r>
            <a:r>
              <a:rPr lang="en-US" sz="1100" b="1" dirty="0">
                <a:solidFill>
                  <a:srgbClr val="8E3A2E"/>
                </a:solidFill>
                <a:latin typeface="Malgun Gothic" pitchFamily="34" charset="0"/>
                <a:ea typeface="Malgun Gothic" pitchFamily="34" charset="-122"/>
                <a:cs typeface="Malgun Gothic" pitchFamily="34" charset="-120"/>
              </a:rPr>
              <a:t>LLM 필터링</a:t>
            </a:r>
            <a:r>
              <a:rPr lang="en-US" sz="1100" dirty="0">
                <a:solidFill>
                  <a:srgbClr val="6B7D82"/>
                </a:solidFill>
                <a:latin typeface="Malgun Gothic" pitchFamily="34" charset="0"/>
                <a:ea typeface="Malgun Gothic" pitchFamily="34" charset="-122"/>
                <a:cs typeface="Malgun Gothic" pitchFamily="34" charset="-120"/>
              </a:rPr>
              <a:t>  →  </a:t>
            </a:r>
            <a:r>
              <a:rPr lang="en-US" sz="1100" b="1" dirty="0">
                <a:solidFill>
                  <a:srgbClr val="04606B"/>
                </a:solidFill>
                <a:latin typeface="Malgun Gothic" pitchFamily="34" charset="0"/>
                <a:ea typeface="Malgun Gothic" pitchFamily="34" charset="-122"/>
                <a:cs typeface="Malgun Gothic" pitchFamily="34" charset="-120"/>
              </a:rPr>
              <a:t>키워드 요구선별</a:t>
            </a:r>
            <a:endParaRPr lang="en-US" sz="1100" dirty="0"/>
          </a:p>
        </p:txBody>
      </p:sp>
      <p:sp>
        <p:nvSpPr>
          <p:cNvPr id="53" name="직사각형 52">
            <a:extLst>
              <a:ext uri="{FF2B5EF4-FFF2-40B4-BE49-F238E27FC236}">
                <a16:creationId xmlns:a16="http://schemas.microsoft.com/office/drawing/2014/main" id="{9FAEFEFF-1FF2-4FB8-8DE5-A46939CE46D7}"/>
              </a:ext>
            </a:extLst>
          </p:cNvPr>
          <p:cNvSpPr/>
          <p:nvPr/>
        </p:nvSpPr>
        <p:spPr>
          <a:xfrm>
            <a:off x="5192420" y="2122170"/>
            <a:ext cx="6593180" cy="1435608"/>
          </a:xfrm>
          <a:prstGeom prst="rect">
            <a:avLst/>
          </a:prstGeom>
          <a:noFill/>
          <a:ln w="76200">
            <a:solidFill>
              <a:srgbClr val="FF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54" name="TextBox 53">
            <a:extLst>
              <a:ext uri="{FF2B5EF4-FFF2-40B4-BE49-F238E27FC236}">
                <a16:creationId xmlns:a16="http://schemas.microsoft.com/office/drawing/2014/main" id="{9FC93EBC-CB9B-40D4-90E9-58DA11AD33DF}"/>
              </a:ext>
            </a:extLst>
          </p:cNvPr>
          <p:cNvSpPr txBox="1"/>
          <p:nvPr/>
        </p:nvSpPr>
        <p:spPr>
          <a:xfrm>
            <a:off x="7400032" y="2117836"/>
            <a:ext cx="1622560" cy="369332"/>
          </a:xfrm>
          <a:prstGeom prst="rect">
            <a:avLst/>
          </a:prstGeom>
          <a:noFill/>
        </p:spPr>
        <p:txBody>
          <a:bodyPr wrap="none" rtlCol="0">
            <a:spAutoFit/>
          </a:bodyPr>
          <a:lstStyle/>
          <a:p>
            <a:r>
              <a:rPr lang="ko-KR" altLang="en-US" b="1" dirty="0">
                <a:solidFill>
                  <a:srgbClr val="FF0000"/>
                </a:solidFill>
              </a:rPr>
              <a:t>무관기사 제거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56032"/>
            <a:ext cx="8686800" cy="438912"/>
          </a:xfrm>
          <a:prstGeom prst="rect">
            <a:avLst/>
          </a:prstGeom>
          <a:noFill/>
          <a:ln/>
        </p:spPr>
        <p:txBody>
          <a:bodyPr wrap="square" lIns="0" tIns="0" rIns="0" bIns="0" rtlCol="0" anchor="ctr"/>
          <a:lstStyle/>
          <a:p>
            <a:pPr marL="0" indent="0" algn="l">
              <a:buNone/>
            </a:pPr>
            <a:r>
              <a:rPr lang="en-US" sz="2700" b="1" dirty="0">
                <a:solidFill>
                  <a:srgbClr val="14343B"/>
                </a:solidFill>
                <a:latin typeface="Malgun Gothic" pitchFamily="34" charset="0"/>
                <a:ea typeface="Malgun Gothic" pitchFamily="34" charset="-122"/>
                <a:cs typeface="Malgun Gothic" pitchFamily="34" charset="-120"/>
              </a:rPr>
              <a:t>관심도 지수 · 산출 3안</a:t>
            </a:r>
            <a:endParaRPr lang="en-US" sz="2700" dirty="0"/>
          </a:p>
        </p:txBody>
      </p:sp>
      <p:sp>
        <p:nvSpPr>
          <p:cNvPr id="3" name="Text 1"/>
          <p:cNvSpPr txBox="1"/>
          <p:nvPr/>
        </p:nvSpPr>
        <p:spPr>
          <a:xfrm>
            <a:off x="640080" y="713232"/>
            <a:ext cx="10881360" cy="274320"/>
          </a:xfrm>
          <a:prstGeom prst="rect">
            <a:avLst/>
          </a:prstGeom>
          <a:noFill/>
          <a:ln/>
        </p:spPr>
        <p:txBody>
          <a:bodyPr wrap="square" lIns="0" tIns="0" rIns="0" bIns="0" rtlCol="0" anchor="ctr"/>
          <a:lstStyle/>
          <a:p>
            <a:pPr marL="0" indent="0" algn="l">
              <a:buNone/>
            </a:pPr>
            <a:r>
              <a:rPr lang="en-US" sz="1300" dirty="0">
                <a:solidFill>
                  <a:srgbClr val="6B7D82"/>
                </a:solidFill>
                <a:latin typeface="Malgun Gothic" pitchFamily="34" charset="0"/>
                <a:ea typeface="Malgun Gothic" pitchFamily="34" charset="-122"/>
                <a:cs typeface="Malgun Gothic" pitchFamily="34" charset="-120"/>
              </a:rPr>
              <a:t>요구도 선별 없이, 필터링을 통과한 </a:t>
            </a:r>
            <a:r>
              <a:rPr lang="en-US" sz="1300" b="1" dirty="0">
                <a:solidFill>
                  <a:srgbClr val="FF0000"/>
                </a:solidFill>
                <a:latin typeface="Malgun Gothic" pitchFamily="34" charset="0"/>
                <a:ea typeface="Malgun Gothic" pitchFamily="34" charset="-122"/>
                <a:cs typeface="Malgun Gothic" pitchFamily="34" charset="-120"/>
              </a:rPr>
              <a:t>뉴스 기사수가 곧 지수</a:t>
            </a:r>
            <a:endParaRPr lang="en-US" sz="1300" b="1" dirty="0">
              <a:solidFill>
                <a:srgbClr val="FF0000"/>
              </a:solidFill>
            </a:endParaRPr>
          </a:p>
        </p:txBody>
      </p:sp>
      <p:sp>
        <p:nvSpPr>
          <p:cNvPr id="4" name="Shape 2"/>
          <p:cNvSpPr/>
          <p:nvPr/>
        </p:nvSpPr>
        <p:spPr>
          <a:xfrm>
            <a:off x="640080" y="1170432"/>
            <a:ext cx="10908792" cy="548640"/>
          </a:xfrm>
          <a:prstGeom prst="roundRect">
            <a:avLst>
              <a:gd name="adj" fmla="val 13333"/>
            </a:avLst>
          </a:prstGeom>
          <a:solidFill>
            <a:srgbClr val="1F3A44"/>
          </a:solidFill>
          <a:ln/>
        </p:spPr>
      </p:sp>
      <p:sp>
        <p:nvSpPr>
          <p:cNvPr id="5" name="Text 3"/>
          <p:cNvSpPr txBox="1"/>
          <p:nvPr/>
        </p:nvSpPr>
        <p:spPr>
          <a:xfrm>
            <a:off x="640080" y="1170432"/>
            <a:ext cx="10908792" cy="548640"/>
          </a:xfrm>
          <a:prstGeom prst="rect">
            <a:avLst/>
          </a:prstGeom>
          <a:noFill/>
          <a:ln/>
        </p:spPr>
        <p:txBody>
          <a:bodyPr wrap="square" lIns="0" tIns="0" rIns="0" bIns="0" rtlCol="0" anchor="ctr"/>
          <a:lstStyle/>
          <a:p>
            <a:pPr marL="0" indent="0" algn="ctr">
              <a:buNone/>
            </a:pPr>
            <a:r>
              <a:rPr lang="en-US" sz="1400" dirty="0">
                <a:solidFill>
                  <a:srgbClr val="E3ECEE"/>
                </a:solidFill>
                <a:latin typeface="Malgun Gothic" pitchFamily="34" charset="0"/>
                <a:ea typeface="Malgun Gothic" pitchFamily="34" charset="-122"/>
                <a:cs typeface="Malgun Gothic" pitchFamily="34" charset="-120"/>
              </a:rPr>
              <a:t>공통 원천   ·   전체기사수 약 67만건   →   언론 필터링(17개사) 약 21만건</a:t>
            </a:r>
            <a:endParaRPr lang="en-US" sz="1400" dirty="0"/>
          </a:p>
        </p:txBody>
      </p:sp>
      <p:sp>
        <p:nvSpPr>
          <p:cNvPr id="6" name="Shape 4"/>
          <p:cNvSpPr/>
          <p:nvPr/>
        </p:nvSpPr>
        <p:spPr>
          <a:xfrm>
            <a:off x="6094476" y="1719072"/>
            <a:ext cx="0" cy="219456"/>
          </a:xfrm>
          <a:prstGeom prst="line">
            <a:avLst/>
          </a:prstGeom>
          <a:noFill/>
          <a:ln w="19050">
            <a:solidFill>
              <a:srgbClr val="7A9299"/>
            </a:solidFill>
            <a:prstDash val="solid"/>
          </a:ln>
        </p:spPr>
      </p:sp>
      <p:sp>
        <p:nvSpPr>
          <p:cNvPr id="7" name="Shape 5"/>
          <p:cNvSpPr/>
          <p:nvPr/>
        </p:nvSpPr>
        <p:spPr>
          <a:xfrm>
            <a:off x="2351380" y="1938528"/>
            <a:ext cx="7485278" cy="0"/>
          </a:xfrm>
          <a:prstGeom prst="line">
            <a:avLst/>
          </a:prstGeom>
          <a:noFill/>
          <a:ln w="19050">
            <a:solidFill>
              <a:srgbClr val="7A9299"/>
            </a:solidFill>
            <a:prstDash val="solid"/>
          </a:ln>
        </p:spPr>
      </p:sp>
      <p:sp>
        <p:nvSpPr>
          <p:cNvPr id="8" name="Shape 6"/>
          <p:cNvSpPr/>
          <p:nvPr/>
        </p:nvSpPr>
        <p:spPr>
          <a:xfrm>
            <a:off x="2351380" y="1938528"/>
            <a:ext cx="0" cy="301752"/>
          </a:xfrm>
          <a:prstGeom prst="line">
            <a:avLst/>
          </a:prstGeom>
          <a:noFill/>
          <a:ln w="19050">
            <a:solidFill>
              <a:srgbClr val="7A9299"/>
            </a:solidFill>
            <a:prstDash val="solid"/>
            <a:tailEnd type="triangle"/>
          </a:ln>
        </p:spPr>
      </p:sp>
      <p:sp>
        <p:nvSpPr>
          <p:cNvPr id="9" name="Shape 7"/>
          <p:cNvSpPr/>
          <p:nvPr/>
        </p:nvSpPr>
        <p:spPr>
          <a:xfrm>
            <a:off x="6094019" y="1938528"/>
            <a:ext cx="0" cy="301752"/>
          </a:xfrm>
          <a:prstGeom prst="line">
            <a:avLst/>
          </a:prstGeom>
          <a:noFill/>
          <a:ln w="19050">
            <a:solidFill>
              <a:srgbClr val="7A9299"/>
            </a:solidFill>
            <a:prstDash val="solid"/>
            <a:tailEnd type="triangle"/>
          </a:ln>
        </p:spPr>
      </p:sp>
      <p:sp>
        <p:nvSpPr>
          <p:cNvPr id="10" name="Shape 8"/>
          <p:cNvSpPr/>
          <p:nvPr/>
        </p:nvSpPr>
        <p:spPr>
          <a:xfrm>
            <a:off x="9836658" y="1938528"/>
            <a:ext cx="0" cy="301752"/>
          </a:xfrm>
          <a:prstGeom prst="line">
            <a:avLst/>
          </a:prstGeom>
          <a:noFill/>
          <a:ln w="19050">
            <a:solidFill>
              <a:srgbClr val="7A9299"/>
            </a:solidFill>
            <a:prstDash val="solid"/>
            <a:tailEnd type="triangle"/>
          </a:ln>
        </p:spPr>
      </p:sp>
      <p:sp>
        <p:nvSpPr>
          <p:cNvPr id="11" name="Shape 9"/>
          <p:cNvSpPr/>
          <p:nvPr/>
        </p:nvSpPr>
        <p:spPr>
          <a:xfrm>
            <a:off x="1299820" y="2240280"/>
            <a:ext cx="2103120" cy="384048"/>
          </a:xfrm>
          <a:prstGeom prst="roundRect">
            <a:avLst>
              <a:gd name="adj" fmla="val 50000"/>
            </a:avLst>
          </a:prstGeom>
          <a:solidFill>
            <a:srgbClr val="1F3A44"/>
          </a:solidFill>
          <a:ln/>
        </p:spPr>
      </p:sp>
      <p:sp>
        <p:nvSpPr>
          <p:cNvPr id="12" name="Text 10"/>
          <p:cNvSpPr txBox="1"/>
          <p:nvPr/>
        </p:nvSpPr>
        <p:spPr>
          <a:xfrm>
            <a:off x="1299820" y="2240280"/>
            <a:ext cx="21031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Malgun Gothic" pitchFamily="34" charset="0"/>
                <a:ea typeface="Malgun Gothic" pitchFamily="34" charset="-122"/>
                <a:cs typeface="Malgun Gothic" pitchFamily="34" charset="-120"/>
              </a:rPr>
              <a:t>관심도 A · </a:t>
            </a:r>
            <a:r>
              <a:rPr lang="en-US" sz="1250" b="1" dirty="0">
                <a:solidFill>
                  <a:srgbClr val="FF0000"/>
                </a:solidFill>
                <a:latin typeface="Malgun Gothic" pitchFamily="34" charset="0"/>
                <a:ea typeface="Malgun Gothic" pitchFamily="34" charset="-122"/>
                <a:cs typeface="Malgun Gothic" pitchFamily="34" charset="-120"/>
              </a:rPr>
              <a:t>현재</a:t>
            </a:r>
            <a:endParaRPr lang="en-US" sz="1250" dirty="0">
              <a:solidFill>
                <a:srgbClr val="FF0000"/>
              </a:solidFill>
            </a:endParaRPr>
          </a:p>
        </p:txBody>
      </p:sp>
      <p:sp>
        <p:nvSpPr>
          <p:cNvPr id="13" name="Shape 11"/>
          <p:cNvSpPr/>
          <p:nvPr/>
        </p:nvSpPr>
        <p:spPr>
          <a:xfrm>
            <a:off x="5042459" y="2240280"/>
            <a:ext cx="2103120" cy="384048"/>
          </a:xfrm>
          <a:prstGeom prst="roundRect">
            <a:avLst>
              <a:gd name="adj" fmla="val 50000"/>
            </a:avLst>
          </a:prstGeom>
          <a:solidFill>
            <a:srgbClr val="028090"/>
          </a:solidFill>
          <a:ln/>
        </p:spPr>
      </p:sp>
      <p:sp>
        <p:nvSpPr>
          <p:cNvPr id="14" name="Text 12"/>
          <p:cNvSpPr txBox="1"/>
          <p:nvPr/>
        </p:nvSpPr>
        <p:spPr>
          <a:xfrm>
            <a:off x="5042459" y="2240280"/>
            <a:ext cx="21031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Malgun Gothic" pitchFamily="34" charset="0"/>
                <a:ea typeface="Malgun Gothic" pitchFamily="34" charset="-122"/>
                <a:cs typeface="Malgun Gothic" pitchFamily="34" charset="-120"/>
              </a:rPr>
              <a:t>관심도 B : </a:t>
            </a:r>
            <a:r>
              <a:rPr lang="ko-KR" altLang="en-US" sz="1250" b="1" dirty="0">
                <a:solidFill>
                  <a:srgbClr val="FFFFFF"/>
                </a:solidFill>
                <a:latin typeface="Malgun Gothic" pitchFamily="34" charset="0"/>
                <a:ea typeface="Malgun Gothic" pitchFamily="34" charset="-122"/>
                <a:cs typeface="Malgun Gothic" pitchFamily="34" charset="-120"/>
              </a:rPr>
              <a:t>검토</a:t>
            </a:r>
            <a:endParaRPr lang="en-US" sz="1250" dirty="0"/>
          </a:p>
        </p:txBody>
      </p:sp>
      <p:sp>
        <p:nvSpPr>
          <p:cNvPr id="15" name="Shape 13"/>
          <p:cNvSpPr/>
          <p:nvPr/>
        </p:nvSpPr>
        <p:spPr>
          <a:xfrm>
            <a:off x="8785098" y="2240280"/>
            <a:ext cx="2103120" cy="384048"/>
          </a:xfrm>
          <a:prstGeom prst="roundRect">
            <a:avLst>
              <a:gd name="adj" fmla="val 50000"/>
            </a:avLst>
          </a:prstGeom>
          <a:solidFill>
            <a:srgbClr val="B85042"/>
          </a:solidFill>
          <a:ln/>
        </p:spPr>
      </p:sp>
      <p:sp>
        <p:nvSpPr>
          <p:cNvPr id="16" name="Text 14"/>
          <p:cNvSpPr txBox="1"/>
          <p:nvPr/>
        </p:nvSpPr>
        <p:spPr>
          <a:xfrm>
            <a:off x="8785098" y="2240280"/>
            <a:ext cx="2103120" cy="384048"/>
          </a:xfrm>
          <a:prstGeom prst="rect">
            <a:avLst/>
          </a:prstGeom>
          <a:noFill/>
          <a:ln/>
        </p:spPr>
        <p:txBody>
          <a:bodyPr wrap="square" lIns="0" tIns="0" rIns="0" bIns="0" rtlCol="0" anchor="ctr"/>
          <a:lstStyle/>
          <a:p>
            <a:pPr marL="0" indent="0" algn="ctr">
              <a:buNone/>
            </a:pPr>
            <a:r>
              <a:rPr lang="en-US" sz="1250" b="1" dirty="0" err="1">
                <a:solidFill>
                  <a:srgbClr val="FFFFFF"/>
                </a:solidFill>
                <a:latin typeface="Malgun Gothic" pitchFamily="34" charset="0"/>
                <a:ea typeface="Malgun Gothic" pitchFamily="34" charset="-122"/>
                <a:cs typeface="Malgun Gothic" pitchFamily="34" charset="-120"/>
              </a:rPr>
              <a:t>관심도</a:t>
            </a:r>
            <a:r>
              <a:rPr lang="en-US" sz="1250" b="1" dirty="0">
                <a:solidFill>
                  <a:srgbClr val="FFFFFF"/>
                </a:solidFill>
                <a:latin typeface="Malgun Gothic" pitchFamily="34" charset="0"/>
                <a:ea typeface="Malgun Gothic" pitchFamily="34" charset="-122"/>
                <a:cs typeface="Malgun Gothic" pitchFamily="34" charset="-120"/>
              </a:rPr>
              <a:t> C : </a:t>
            </a:r>
            <a:r>
              <a:rPr lang="ko-KR" altLang="en-US" sz="1250" b="1" dirty="0">
                <a:solidFill>
                  <a:srgbClr val="FFFFFF"/>
                </a:solidFill>
                <a:latin typeface="Malgun Gothic" pitchFamily="34" charset="0"/>
                <a:ea typeface="Malgun Gothic" pitchFamily="34" charset="-122"/>
                <a:cs typeface="Malgun Gothic" pitchFamily="34" charset="-120"/>
              </a:rPr>
              <a:t>예정</a:t>
            </a:r>
            <a:endParaRPr lang="en-US" sz="1250" dirty="0"/>
          </a:p>
        </p:txBody>
      </p:sp>
      <p:sp>
        <p:nvSpPr>
          <p:cNvPr id="17" name="Shape 15"/>
          <p:cNvSpPr/>
          <p:nvPr/>
        </p:nvSpPr>
        <p:spPr>
          <a:xfrm>
            <a:off x="640080" y="2788920"/>
            <a:ext cx="3422599" cy="1280160"/>
          </a:xfrm>
          <a:prstGeom prst="roundRect">
            <a:avLst>
              <a:gd name="adj" fmla="val 5714"/>
            </a:avLst>
          </a:prstGeom>
          <a:solidFill>
            <a:srgbClr val="EDF1F2"/>
          </a:solidFill>
          <a:ln w="15875">
            <a:solidFill>
              <a:srgbClr val="5A7883"/>
            </a:solidFill>
            <a:prstDash val="solid"/>
          </a:ln>
        </p:spPr>
      </p:sp>
      <p:sp>
        <p:nvSpPr>
          <p:cNvPr id="18" name="Text 16"/>
          <p:cNvSpPr txBox="1"/>
          <p:nvPr/>
        </p:nvSpPr>
        <p:spPr>
          <a:xfrm>
            <a:off x="877824" y="2935224"/>
            <a:ext cx="2947111" cy="310896"/>
          </a:xfrm>
          <a:prstGeom prst="rect">
            <a:avLst/>
          </a:prstGeom>
          <a:noFill/>
          <a:ln/>
        </p:spPr>
        <p:txBody>
          <a:bodyPr wrap="square" lIns="0" tIns="0" rIns="0" bIns="0" rtlCol="0" anchor="ctr"/>
          <a:lstStyle/>
          <a:p>
            <a:pPr marL="0" indent="0" algn="l">
              <a:buNone/>
            </a:pPr>
            <a:r>
              <a:rPr lang="en-US" sz="1700" b="1" dirty="0">
                <a:solidFill>
                  <a:srgbClr val="27454F"/>
                </a:solidFill>
                <a:latin typeface="Malgun Gothic" pitchFamily="34" charset="0"/>
                <a:ea typeface="Malgun Gothic" pitchFamily="34" charset="-122"/>
                <a:cs typeface="Malgun Gothic" pitchFamily="34" charset="-120"/>
              </a:rPr>
              <a:t>필터링 없음</a:t>
            </a:r>
            <a:endParaRPr lang="en-US" sz="1700" dirty="0"/>
          </a:p>
        </p:txBody>
      </p:sp>
      <p:sp>
        <p:nvSpPr>
          <p:cNvPr id="19" name="Text 17"/>
          <p:cNvSpPr txBox="1"/>
          <p:nvPr/>
        </p:nvSpPr>
        <p:spPr>
          <a:xfrm>
            <a:off x="877824" y="3282696"/>
            <a:ext cx="2947111" cy="658368"/>
          </a:xfrm>
          <a:prstGeom prst="rect">
            <a:avLst/>
          </a:prstGeom>
          <a:noFill/>
          <a:ln/>
        </p:spPr>
        <p:txBody>
          <a:bodyPr wrap="square" lIns="0" tIns="0" rIns="0" bIns="0" rtlCol="0" anchor="t"/>
          <a:lstStyle/>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언론 필터링(17개사) 결과를</a:t>
            </a:r>
            <a:endParaRPr lang="en-US" sz="1150" dirty="0"/>
          </a:p>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추가 처리 없이 그대로 사용</a:t>
            </a:r>
            <a:endParaRPr lang="en-US" sz="1150" dirty="0"/>
          </a:p>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기사수 약 21만건</a:t>
            </a:r>
            <a:endParaRPr lang="en-US" sz="1150" dirty="0"/>
          </a:p>
        </p:txBody>
      </p:sp>
      <p:sp>
        <p:nvSpPr>
          <p:cNvPr id="20" name="Shape 18"/>
          <p:cNvSpPr/>
          <p:nvPr/>
        </p:nvSpPr>
        <p:spPr>
          <a:xfrm>
            <a:off x="4382719" y="2788920"/>
            <a:ext cx="3422599" cy="1280160"/>
          </a:xfrm>
          <a:prstGeom prst="roundRect">
            <a:avLst>
              <a:gd name="adj" fmla="val 5714"/>
            </a:avLst>
          </a:prstGeom>
          <a:solidFill>
            <a:srgbClr val="EAF4F5"/>
          </a:solidFill>
          <a:ln w="15875">
            <a:solidFill>
              <a:srgbClr val="028090"/>
            </a:solidFill>
            <a:prstDash val="solid"/>
          </a:ln>
        </p:spPr>
      </p:sp>
      <p:sp>
        <p:nvSpPr>
          <p:cNvPr id="21" name="Text 19"/>
          <p:cNvSpPr txBox="1"/>
          <p:nvPr/>
        </p:nvSpPr>
        <p:spPr>
          <a:xfrm>
            <a:off x="4620463" y="2935224"/>
            <a:ext cx="2947111" cy="310896"/>
          </a:xfrm>
          <a:prstGeom prst="rect">
            <a:avLst/>
          </a:prstGeom>
          <a:noFill/>
          <a:ln/>
        </p:spPr>
        <p:txBody>
          <a:bodyPr wrap="square" lIns="0" tIns="0" rIns="0" bIns="0" rtlCol="0" anchor="ctr"/>
          <a:lstStyle/>
          <a:p>
            <a:pPr marL="0" indent="0" algn="l">
              <a:buNone/>
            </a:pPr>
            <a:r>
              <a:rPr lang="en-US" altLang="ko-KR" sz="1800" b="1" dirty="0" err="1">
                <a:solidFill>
                  <a:srgbClr val="04606B"/>
                </a:solidFill>
                <a:latin typeface="Malgun Gothic" pitchFamily="34" charset="0"/>
                <a:ea typeface="Malgun Gothic" pitchFamily="34" charset="-122"/>
                <a:cs typeface="Malgun Gothic" pitchFamily="34" charset="-120"/>
              </a:rPr>
              <a:t>키워드</a:t>
            </a:r>
            <a:r>
              <a:rPr lang="en-US" altLang="ko-KR" sz="1800" b="1" dirty="0">
                <a:solidFill>
                  <a:srgbClr val="04606B"/>
                </a:solidFill>
                <a:latin typeface="Malgun Gothic" pitchFamily="34" charset="0"/>
                <a:ea typeface="Malgun Gothic" pitchFamily="34" charset="-122"/>
                <a:cs typeface="Malgun Gothic" pitchFamily="34" charset="-120"/>
              </a:rPr>
              <a:t> </a:t>
            </a:r>
            <a:r>
              <a:rPr lang="en-US" altLang="ko-KR" sz="1800" b="1" dirty="0" err="1">
                <a:solidFill>
                  <a:srgbClr val="04606B"/>
                </a:solidFill>
                <a:latin typeface="Malgun Gothic" pitchFamily="34" charset="0"/>
                <a:ea typeface="Malgun Gothic" pitchFamily="34" charset="-122"/>
                <a:cs typeface="Malgun Gothic" pitchFamily="34" charset="-120"/>
              </a:rPr>
              <a:t>기반</a:t>
            </a:r>
            <a:r>
              <a:rPr lang="en-US" altLang="ko-KR" sz="1800" b="1" dirty="0">
                <a:solidFill>
                  <a:srgbClr val="04606B"/>
                </a:solidFill>
                <a:latin typeface="Malgun Gothic" pitchFamily="34" charset="0"/>
                <a:ea typeface="Malgun Gothic" pitchFamily="34" charset="-122"/>
                <a:cs typeface="Malgun Gothic" pitchFamily="34" charset="-120"/>
              </a:rPr>
              <a:t> </a:t>
            </a:r>
            <a:r>
              <a:rPr lang="ko-KR" altLang="en-US" sz="1800" b="1" dirty="0">
                <a:solidFill>
                  <a:srgbClr val="04606B"/>
                </a:solidFill>
                <a:latin typeface="Malgun Gothic" pitchFamily="34" charset="0"/>
                <a:ea typeface="Malgun Gothic" pitchFamily="34" charset="-122"/>
                <a:cs typeface="Malgun Gothic" pitchFamily="34" charset="-120"/>
              </a:rPr>
              <a:t>내용 </a:t>
            </a:r>
            <a:r>
              <a:rPr lang="en-US" altLang="ko-KR" sz="1800" b="1" dirty="0" err="1">
                <a:solidFill>
                  <a:srgbClr val="04606B"/>
                </a:solidFill>
                <a:latin typeface="Malgun Gothic" pitchFamily="34" charset="0"/>
                <a:ea typeface="Malgun Gothic" pitchFamily="34" charset="-122"/>
                <a:cs typeface="Malgun Gothic" pitchFamily="34" charset="-120"/>
              </a:rPr>
              <a:t>필터링</a:t>
            </a:r>
            <a:endParaRPr lang="en-US" altLang="ko-KR" sz="1800" dirty="0"/>
          </a:p>
        </p:txBody>
      </p:sp>
      <p:sp>
        <p:nvSpPr>
          <p:cNvPr id="22" name="Text 20"/>
          <p:cNvSpPr txBox="1"/>
          <p:nvPr/>
        </p:nvSpPr>
        <p:spPr>
          <a:xfrm>
            <a:off x="4620463" y="3282696"/>
            <a:ext cx="2947111" cy="658368"/>
          </a:xfrm>
          <a:prstGeom prst="rect">
            <a:avLst/>
          </a:prstGeom>
          <a:noFill/>
          <a:ln/>
        </p:spPr>
        <p:txBody>
          <a:bodyPr wrap="square" lIns="0" tIns="0" rIns="0" bIns="0" rtlCol="0" anchor="t"/>
          <a:lstStyle/>
          <a:p>
            <a:pPr marL="0" indent="0" algn="l">
              <a:lnSpc>
                <a:spcPct val="130000"/>
              </a:lnSpc>
              <a:buNone/>
            </a:pPr>
            <a:r>
              <a:rPr lang="en-US" sz="1150" dirty="0">
                <a:solidFill>
                  <a:srgbClr val="3D5A61"/>
                </a:solidFill>
                <a:latin typeface="Malgun Gothic" pitchFamily="34" charset="0"/>
                <a:ea typeface="Malgun Gothic" pitchFamily="34" charset="-122"/>
                <a:cs typeface="Malgun Gothic" pitchFamily="34" charset="-120"/>
              </a:rPr>
              <a:t>키워드로 대기환경 무관 </a:t>
            </a:r>
            <a:r>
              <a:rPr lang="en-US" sz="1150" dirty="0" err="1">
                <a:solidFill>
                  <a:srgbClr val="3D5A61"/>
                </a:solidFill>
                <a:latin typeface="Malgun Gothic" pitchFamily="34" charset="0"/>
                <a:ea typeface="Malgun Gothic" pitchFamily="34" charset="-122"/>
                <a:cs typeface="Malgun Gothic" pitchFamily="34" charset="-120"/>
              </a:rPr>
              <a:t>기사</a:t>
            </a:r>
            <a:r>
              <a:rPr lang="en-US" sz="1150" dirty="0">
                <a:solidFill>
                  <a:srgbClr val="3D5A61"/>
                </a:solidFill>
                <a:latin typeface="Malgun Gothic" pitchFamily="34" charset="0"/>
                <a:ea typeface="Malgun Gothic" pitchFamily="34" charset="-122"/>
                <a:cs typeface="Malgun Gothic" pitchFamily="34" charset="-120"/>
              </a:rPr>
              <a:t> </a:t>
            </a:r>
            <a:r>
              <a:rPr lang="en-US" sz="1150" dirty="0" err="1">
                <a:solidFill>
                  <a:srgbClr val="3D5A61"/>
                </a:solidFill>
                <a:latin typeface="Malgun Gothic" pitchFamily="34" charset="0"/>
                <a:ea typeface="Malgun Gothic" pitchFamily="34" charset="-122"/>
                <a:cs typeface="Malgun Gothic" pitchFamily="34" charset="-120"/>
              </a:rPr>
              <a:t>제거</a:t>
            </a:r>
            <a:r>
              <a:rPr lang="en-US" sz="1150" dirty="0">
                <a:solidFill>
                  <a:srgbClr val="3D5A61"/>
                </a:solidFill>
                <a:latin typeface="Malgun Gothic" pitchFamily="34" charset="0"/>
                <a:ea typeface="Malgun Gothic" pitchFamily="34" charset="-122"/>
                <a:cs typeface="Malgun Gothic" pitchFamily="34" charset="-120"/>
              </a:rPr>
              <a:t> </a:t>
            </a:r>
            <a:r>
              <a:rPr lang="ko-KR" altLang="en-US" sz="1150" dirty="0">
                <a:solidFill>
                  <a:srgbClr val="3D5A61"/>
                </a:solidFill>
                <a:latin typeface="Malgun Gothic" pitchFamily="34" charset="0"/>
                <a:ea typeface="Malgun Gothic" pitchFamily="34" charset="-122"/>
                <a:cs typeface="Malgun Gothic" pitchFamily="34" charset="-120"/>
              </a:rPr>
              <a:t>필요</a:t>
            </a:r>
            <a:endParaRPr lang="en-US" altLang="ko-KR" sz="1150" dirty="0">
              <a:solidFill>
                <a:srgbClr val="3D5A61"/>
              </a:solidFill>
              <a:latin typeface="Malgun Gothic" pitchFamily="34" charset="0"/>
              <a:ea typeface="Malgun Gothic" pitchFamily="34" charset="-122"/>
              <a:cs typeface="Malgun Gothic" pitchFamily="34" charset="-120"/>
            </a:endParaRPr>
          </a:p>
          <a:p>
            <a:pPr marL="0" indent="0" algn="l">
              <a:lnSpc>
                <a:spcPct val="130000"/>
              </a:lnSpc>
              <a:buNone/>
            </a:pPr>
            <a:r>
              <a:rPr lang="ko-KR" altLang="en-US" sz="1150" dirty="0">
                <a:solidFill>
                  <a:srgbClr val="3D5A61"/>
                </a:solidFill>
                <a:latin typeface="Malgun Gothic" pitchFamily="34" charset="0"/>
                <a:ea typeface="Malgun Gothic" pitchFamily="34" charset="-122"/>
              </a:rPr>
              <a:t>무관기사 제거를 위한 별도 제거 전략 마련 </a:t>
            </a:r>
            <a:endParaRPr lang="en-US" sz="1150" dirty="0"/>
          </a:p>
        </p:txBody>
      </p:sp>
      <p:sp>
        <p:nvSpPr>
          <p:cNvPr id="23" name="Shape 21"/>
          <p:cNvSpPr/>
          <p:nvPr/>
        </p:nvSpPr>
        <p:spPr>
          <a:xfrm>
            <a:off x="8125358" y="2788920"/>
            <a:ext cx="3422599" cy="1280160"/>
          </a:xfrm>
          <a:prstGeom prst="roundRect">
            <a:avLst>
              <a:gd name="adj" fmla="val 5714"/>
            </a:avLst>
          </a:prstGeom>
          <a:solidFill>
            <a:srgbClr val="FBF2F0"/>
          </a:solidFill>
          <a:ln w="15875">
            <a:solidFill>
              <a:srgbClr val="B85042"/>
            </a:solidFill>
            <a:prstDash val="solid"/>
          </a:ln>
        </p:spPr>
      </p:sp>
      <p:sp>
        <p:nvSpPr>
          <p:cNvPr id="24" name="Text 22"/>
          <p:cNvSpPr txBox="1"/>
          <p:nvPr/>
        </p:nvSpPr>
        <p:spPr>
          <a:xfrm>
            <a:off x="8363102" y="2935224"/>
            <a:ext cx="2947111" cy="310896"/>
          </a:xfrm>
          <a:prstGeom prst="rect">
            <a:avLst/>
          </a:prstGeom>
          <a:noFill/>
          <a:ln/>
        </p:spPr>
        <p:txBody>
          <a:bodyPr wrap="square" lIns="0" tIns="0" rIns="0" bIns="0" rtlCol="0" anchor="ctr"/>
          <a:lstStyle/>
          <a:p>
            <a:pPr marL="0" indent="0" algn="l">
              <a:buNone/>
            </a:pPr>
            <a:r>
              <a:rPr lang="en-US" sz="1700" b="1" dirty="0">
                <a:solidFill>
                  <a:srgbClr val="8E3A2E"/>
                </a:solidFill>
                <a:latin typeface="Malgun Gothic" pitchFamily="34" charset="0"/>
                <a:ea typeface="Malgun Gothic" pitchFamily="34" charset="-122"/>
                <a:cs typeface="Malgun Gothic" pitchFamily="34" charset="-120"/>
              </a:rPr>
              <a:t>LLM 기반 내용 필터링</a:t>
            </a:r>
            <a:endParaRPr lang="en-US" sz="1700" dirty="0"/>
          </a:p>
        </p:txBody>
      </p:sp>
      <p:sp>
        <p:nvSpPr>
          <p:cNvPr id="25" name="Text 23"/>
          <p:cNvSpPr txBox="1"/>
          <p:nvPr/>
        </p:nvSpPr>
        <p:spPr>
          <a:xfrm>
            <a:off x="8363102" y="3282696"/>
            <a:ext cx="2947111" cy="658368"/>
          </a:xfrm>
          <a:prstGeom prst="rect">
            <a:avLst/>
          </a:prstGeom>
          <a:noFill/>
          <a:ln/>
        </p:spPr>
        <p:txBody>
          <a:bodyPr wrap="square" lIns="0" tIns="0" rIns="0" bIns="0" rtlCol="0" anchor="t"/>
          <a:lstStyle/>
          <a:p>
            <a:pPr marL="0" indent="0" algn="l">
              <a:lnSpc>
                <a:spcPct val="130000"/>
              </a:lnSpc>
              <a:buNone/>
            </a:pPr>
            <a:r>
              <a:rPr lang="en-US" sz="1150" dirty="0">
                <a:solidFill>
                  <a:srgbClr val="6B4640"/>
                </a:solidFill>
                <a:latin typeface="Malgun Gothic" pitchFamily="34" charset="0"/>
                <a:ea typeface="Malgun Gothic" pitchFamily="34" charset="-122"/>
                <a:cs typeface="Malgun Gothic" pitchFamily="34" charset="-120"/>
              </a:rPr>
              <a:t>LLM으로 대기환경 무관 기사 제거</a:t>
            </a:r>
            <a:endParaRPr lang="en-US" sz="1150" dirty="0"/>
          </a:p>
          <a:p>
            <a:pPr marL="0" indent="0" algn="l">
              <a:lnSpc>
                <a:spcPct val="130000"/>
              </a:lnSpc>
              <a:buNone/>
            </a:pPr>
            <a:r>
              <a:rPr lang="en-US" sz="1150" dirty="0">
                <a:solidFill>
                  <a:srgbClr val="6B4640"/>
                </a:solidFill>
                <a:latin typeface="Malgun Gothic" pitchFamily="34" charset="0"/>
                <a:ea typeface="Malgun Gothic" pitchFamily="34" charset="-122"/>
                <a:cs typeface="Malgun Gothic" pitchFamily="34" charset="-120"/>
              </a:rPr>
              <a:t>날씨 등 · QWEN, GPT 활용</a:t>
            </a:r>
            <a:endParaRPr lang="en-US" sz="1150" dirty="0"/>
          </a:p>
          <a:p>
            <a:pPr marL="0" indent="0" algn="l">
              <a:lnSpc>
                <a:spcPct val="130000"/>
              </a:lnSpc>
              <a:buNone/>
            </a:pPr>
            <a:r>
              <a:rPr lang="en-US" sz="1150" dirty="0">
                <a:solidFill>
                  <a:srgbClr val="6B4640"/>
                </a:solidFill>
                <a:latin typeface="Malgun Gothic" pitchFamily="34" charset="0"/>
                <a:ea typeface="Malgun Gothic" pitchFamily="34" charset="-122"/>
                <a:cs typeface="Malgun Gothic" pitchFamily="34" charset="-120"/>
              </a:rPr>
              <a:t>기사수 약 13만건</a:t>
            </a:r>
            <a:endParaRPr lang="en-US" sz="1150" dirty="0"/>
          </a:p>
        </p:txBody>
      </p:sp>
      <p:sp>
        <p:nvSpPr>
          <p:cNvPr id="26" name="Shape 24"/>
          <p:cNvSpPr/>
          <p:nvPr/>
        </p:nvSpPr>
        <p:spPr>
          <a:xfrm>
            <a:off x="2351380" y="4069080"/>
            <a:ext cx="0" cy="320040"/>
          </a:xfrm>
          <a:prstGeom prst="line">
            <a:avLst/>
          </a:prstGeom>
          <a:noFill/>
          <a:ln w="19050">
            <a:solidFill>
              <a:srgbClr val="7A9299"/>
            </a:solidFill>
            <a:prstDash val="solid"/>
            <a:tailEnd type="triangle"/>
          </a:ln>
        </p:spPr>
      </p:sp>
      <p:sp>
        <p:nvSpPr>
          <p:cNvPr id="27" name="Shape 25"/>
          <p:cNvSpPr/>
          <p:nvPr/>
        </p:nvSpPr>
        <p:spPr>
          <a:xfrm>
            <a:off x="6094019" y="4069080"/>
            <a:ext cx="0" cy="320040"/>
          </a:xfrm>
          <a:prstGeom prst="line">
            <a:avLst/>
          </a:prstGeom>
          <a:noFill/>
          <a:ln w="19050">
            <a:solidFill>
              <a:srgbClr val="7A9299"/>
            </a:solidFill>
            <a:prstDash val="solid"/>
            <a:tailEnd type="triangle"/>
          </a:ln>
        </p:spPr>
      </p:sp>
      <p:sp>
        <p:nvSpPr>
          <p:cNvPr id="28" name="Shape 26"/>
          <p:cNvSpPr/>
          <p:nvPr/>
        </p:nvSpPr>
        <p:spPr>
          <a:xfrm>
            <a:off x="9836658" y="4069080"/>
            <a:ext cx="0" cy="320040"/>
          </a:xfrm>
          <a:prstGeom prst="line">
            <a:avLst/>
          </a:prstGeom>
          <a:noFill/>
          <a:ln w="19050">
            <a:solidFill>
              <a:srgbClr val="7A9299"/>
            </a:solidFill>
            <a:prstDash val="solid"/>
            <a:tailEnd type="triangle"/>
          </a:ln>
        </p:spPr>
      </p:sp>
      <p:sp>
        <p:nvSpPr>
          <p:cNvPr id="29" name="Shape 27"/>
          <p:cNvSpPr/>
          <p:nvPr/>
        </p:nvSpPr>
        <p:spPr>
          <a:xfrm>
            <a:off x="640080" y="4389120"/>
            <a:ext cx="3422599" cy="841248"/>
          </a:xfrm>
          <a:prstGeom prst="roundRect">
            <a:avLst>
              <a:gd name="adj" fmla="val 8696"/>
            </a:avLst>
          </a:prstGeom>
          <a:solidFill>
            <a:srgbClr val="1F3A44"/>
          </a:solidFill>
          <a:ln/>
        </p:spPr>
      </p:sp>
      <p:sp>
        <p:nvSpPr>
          <p:cNvPr id="30" name="Text 28"/>
          <p:cNvSpPr txBox="1"/>
          <p:nvPr/>
        </p:nvSpPr>
        <p:spPr>
          <a:xfrm>
            <a:off x="640080" y="4389120"/>
            <a:ext cx="3422599" cy="841248"/>
          </a:xfrm>
          <a:prstGeom prst="rect">
            <a:avLst/>
          </a:prstGeom>
          <a:noFill/>
          <a:ln/>
        </p:spPr>
        <p:txBody>
          <a:bodyPr wrap="square" lIns="0" tIns="0" rIns="0" bIns="0" rtlCol="0" anchor="ctr"/>
          <a:lstStyle/>
          <a:p>
            <a:pPr marL="0" indent="0" algn="ctr">
              <a:buNone/>
            </a:pPr>
            <a:r>
              <a:rPr lang="en-US" sz="1900" b="1" dirty="0">
                <a:solidFill>
                  <a:srgbClr val="FFFFFF"/>
                </a:solidFill>
                <a:latin typeface="Malgun Gothic" pitchFamily="34" charset="0"/>
                <a:ea typeface="Malgun Gothic" pitchFamily="34" charset="-122"/>
                <a:cs typeface="Malgun Gothic" pitchFamily="34" charset="-120"/>
              </a:rPr>
              <a:t>관심도 지수 A</a:t>
            </a:r>
            <a:endParaRPr lang="en-US" sz="1900" dirty="0"/>
          </a:p>
        </p:txBody>
      </p:sp>
      <p:sp>
        <p:nvSpPr>
          <p:cNvPr id="31" name="Shape 29"/>
          <p:cNvSpPr/>
          <p:nvPr/>
        </p:nvSpPr>
        <p:spPr>
          <a:xfrm>
            <a:off x="4382719" y="4389120"/>
            <a:ext cx="3422599" cy="841248"/>
          </a:xfrm>
          <a:prstGeom prst="roundRect">
            <a:avLst>
              <a:gd name="adj" fmla="val 8696"/>
            </a:avLst>
          </a:prstGeom>
          <a:solidFill>
            <a:srgbClr val="028090"/>
          </a:solidFill>
          <a:ln/>
        </p:spPr>
      </p:sp>
      <p:sp>
        <p:nvSpPr>
          <p:cNvPr id="32" name="Text 30"/>
          <p:cNvSpPr txBox="1"/>
          <p:nvPr/>
        </p:nvSpPr>
        <p:spPr>
          <a:xfrm>
            <a:off x="4382719" y="4389120"/>
            <a:ext cx="3422599" cy="841248"/>
          </a:xfrm>
          <a:prstGeom prst="rect">
            <a:avLst/>
          </a:prstGeom>
          <a:noFill/>
          <a:ln/>
        </p:spPr>
        <p:txBody>
          <a:bodyPr wrap="square" lIns="0" tIns="0" rIns="0" bIns="0" rtlCol="0" anchor="ctr"/>
          <a:lstStyle/>
          <a:p>
            <a:pPr marL="0" indent="0" algn="ctr">
              <a:buNone/>
            </a:pPr>
            <a:r>
              <a:rPr lang="en-US" sz="1900" b="1" dirty="0">
                <a:solidFill>
                  <a:srgbClr val="FFFFFF"/>
                </a:solidFill>
                <a:latin typeface="Malgun Gothic" pitchFamily="34" charset="0"/>
                <a:ea typeface="Malgun Gothic" pitchFamily="34" charset="-122"/>
                <a:cs typeface="Malgun Gothic" pitchFamily="34" charset="-120"/>
              </a:rPr>
              <a:t>관심도 지수 B</a:t>
            </a:r>
            <a:endParaRPr lang="en-US" sz="1900" dirty="0"/>
          </a:p>
        </p:txBody>
      </p:sp>
      <p:sp>
        <p:nvSpPr>
          <p:cNvPr id="33" name="Shape 31"/>
          <p:cNvSpPr/>
          <p:nvPr/>
        </p:nvSpPr>
        <p:spPr>
          <a:xfrm>
            <a:off x="8125358" y="4389120"/>
            <a:ext cx="3422599" cy="841248"/>
          </a:xfrm>
          <a:prstGeom prst="roundRect">
            <a:avLst>
              <a:gd name="adj" fmla="val 8696"/>
            </a:avLst>
          </a:prstGeom>
          <a:solidFill>
            <a:srgbClr val="B85042"/>
          </a:solidFill>
          <a:ln/>
        </p:spPr>
      </p:sp>
      <p:sp>
        <p:nvSpPr>
          <p:cNvPr id="34" name="Text 32"/>
          <p:cNvSpPr txBox="1"/>
          <p:nvPr/>
        </p:nvSpPr>
        <p:spPr>
          <a:xfrm>
            <a:off x="8125358" y="4389120"/>
            <a:ext cx="3422599" cy="841248"/>
          </a:xfrm>
          <a:prstGeom prst="rect">
            <a:avLst/>
          </a:prstGeom>
          <a:noFill/>
          <a:ln/>
        </p:spPr>
        <p:txBody>
          <a:bodyPr wrap="square" lIns="0" tIns="0" rIns="0" bIns="0" rtlCol="0" anchor="ctr"/>
          <a:lstStyle/>
          <a:p>
            <a:pPr marL="0" indent="0" algn="ctr">
              <a:buNone/>
            </a:pPr>
            <a:r>
              <a:rPr lang="en-US" sz="1900" b="1" dirty="0">
                <a:solidFill>
                  <a:srgbClr val="FFFFFF"/>
                </a:solidFill>
                <a:latin typeface="Malgun Gothic" pitchFamily="34" charset="0"/>
                <a:ea typeface="Malgun Gothic" pitchFamily="34" charset="-122"/>
                <a:cs typeface="Malgun Gothic" pitchFamily="34" charset="-120"/>
              </a:rPr>
              <a:t>관심도 지수 C</a:t>
            </a:r>
            <a:endParaRPr lang="en-US" sz="1900" dirty="0"/>
          </a:p>
        </p:txBody>
      </p:sp>
      <p:sp>
        <p:nvSpPr>
          <p:cNvPr id="35" name="Shape 33"/>
          <p:cNvSpPr/>
          <p:nvPr/>
        </p:nvSpPr>
        <p:spPr>
          <a:xfrm>
            <a:off x="2351380" y="5230368"/>
            <a:ext cx="0" cy="182880"/>
          </a:xfrm>
          <a:prstGeom prst="line">
            <a:avLst/>
          </a:prstGeom>
          <a:noFill/>
          <a:ln w="19050">
            <a:solidFill>
              <a:srgbClr val="7A9299"/>
            </a:solidFill>
            <a:prstDash val="solid"/>
          </a:ln>
        </p:spPr>
      </p:sp>
      <p:sp>
        <p:nvSpPr>
          <p:cNvPr id="36" name="Shape 34"/>
          <p:cNvSpPr/>
          <p:nvPr/>
        </p:nvSpPr>
        <p:spPr>
          <a:xfrm>
            <a:off x="6094019" y="5230368"/>
            <a:ext cx="0" cy="182880"/>
          </a:xfrm>
          <a:prstGeom prst="line">
            <a:avLst/>
          </a:prstGeom>
          <a:noFill/>
          <a:ln w="19050">
            <a:solidFill>
              <a:srgbClr val="7A9299"/>
            </a:solidFill>
            <a:prstDash val="solid"/>
          </a:ln>
        </p:spPr>
      </p:sp>
      <p:sp>
        <p:nvSpPr>
          <p:cNvPr id="37" name="Shape 35"/>
          <p:cNvSpPr/>
          <p:nvPr/>
        </p:nvSpPr>
        <p:spPr>
          <a:xfrm>
            <a:off x="9836658" y="5230368"/>
            <a:ext cx="0" cy="182880"/>
          </a:xfrm>
          <a:prstGeom prst="line">
            <a:avLst/>
          </a:prstGeom>
          <a:noFill/>
          <a:ln w="19050">
            <a:solidFill>
              <a:srgbClr val="7A9299"/>
            </a:solidFill>
            <a:prstDash val="solid"/>
          </a:ln>
        </p:spPr>
      </p:sp>
      <p:sp>
        <p:nvSpPr>
          <p:cNvPr id="38" name="Shape 36"/>
          <p:cNvSpPr/>
          <p:nvPr/>
        </p:nvSpPr>
        <p:spPr>
          <a:xfrm>
            <a:off x="2351380" y="5413248"/>
            <a:ext cx="7485278" cy="0"/>
          </a:xfrm>
          <a:prstGeom prst="line">
            <a:avLst/>
          </a:prstGeom>
          <a:noFill/>
          <a:ln w="19050">
            <a:solidFill>
              <a:srgbClr val="7A9299"/>
            </a:solidFill>
            <a:prstDash val="solid"/>
          </a:ln>
        </p:spPr>
      </p:sp>
      <p:sp>
        <p:nvSpPr>
          <p:cNvPr id="39" name="Shape 37"/>
          <p:cNvSpPr/>
          <p:nvPr/>
        </p:nvSpPr>
        <p:spPr>
          <a:xfrm>
            <a:off x="6094476" y="5413248"/>
            <a:ext cx="0" cy="228600"/>
          </a:xfrm>
          <a:prstGeom prst="line">
            <a:avLst/>
          </a:prstGeom>
          <a:noFill/>
          <a:ln w="19050">
            <a:solidFill>
              <a:srgbClr val="7A9299"/>
            </a:solidFill>
            <a:prstDash val="solid"/>
            <a:tailEnd type="triangle"/>
          </a:ln>
        </p:spPr>
      </p:sp>
      <p:sp>
        <p:nvSpPr>
          <p:cNvPr id="40" name="Shape 38"/>
          <p:cNvSpPr/>
          <p:nvPr/>
        </p:nvSpPr>
        <p:spPr>
          <a:xfrm>
            <a:off x="640080" y="5641848"/>
            <a:ext cx="10908792" cy="758952"/>
          </a:xfrm>
          <a:prstGeom prst="roundRect">
            <a:avLst>
              <a:gd name="adj" fmla="val 9639"/>
            </a:avLst>
          </a:prstGeom>
          <a:solidFill>
            <a:srgbClr val="EAF4F5"/>
          </a:solidFill>
          <a:ln w="15875">
            <a:solidFill>
              <a:srgbClr val="028090"/>
            </a:solidFill>
            <a:prstDash val="solid"/>
          </a:ln>
        </p:spPr>
      </p:sp>
      <p:sp>
        <p:nvSpPr>
          <p:cNvPr id="41" name="Text 39"/>
          <p:cNvSpPr txBox="1"/>
          <p:nvPr/>
        </p:nvSpPr>
        <p:spPr>
          <a:xfrm>
            <a:off x="960120" y="5641848"/>
            <a:ext cx="1645920" cy="758952"/>
          </a:xfrm>
          <a:prstGeom prst="rect">
            <a:avLst/>
          </a:prstGeom>
          <a:noFill/>
          <a:ln/>
        </p:spPr>
        <p:txBody>
          <a:bodyPr wrap="square" lIns="0" tIns="0" rIns="0" bIns="0" rtlCol="0" anchor="ctr"/>
          <a:lstStyle/>
          <a:p>
            <a:pPr marL="0" indent="0" algn="l">
              <a:buNone/>
            </a:pPr>
            <a:r>
              <a:rPr lang="en-US" sz="1600" b="1" dirty="0">
                <a:solidFill>
                  <a:srgbClr val="04606B"/>
                </a:solidFill>
                <a:latin typeface="Malgun Gothic" pitchFamily="34" charset="0"/>
                <a:ea typeface="Malgun Gothic" pitchFamily="34" charset="-122"/>
                <a:cs typeface="Malgun Gothic" pitchFamily="34" charset="-120"/>
              </a:rPr>
              <a:t>세부 분류</a:t>
            </a:r>
            <a:endParaRPr lang="en-US" sz="1600" dirty="0"/>
          </a:p>
        </p:txBody>
      </p:sp>
      <p:sp>
        <p:nvSpPr>
          <p:cNvPr id="42" name="Text 40"/>
          <p:cNvSpPr txBox="1"/>
          <p:nvPr/>
        </p:nvSpPr>
        <p:spPr>
          <a:xfrm>
            <a:off x="2697480" y="5641848"/>
            <a:ext cx="8595360" cy="758952"/>
          </a:xfrm>
          <a:prstGeom prst="rect">
            <a:avLst/>
          </a:prstGeom>
          <a:noFill/>
          <a:ln/>
        </p:spPr>
        <p:txBody>
          <a:bodyPr wrap="square" lIns="0" tIns="0" rIns="0" bIns="0" rtlCol="0" anchor="ctr"/>
          <a:lstStyle/>
          <a:p>
            <a:pPr marL="0" indent="0" algn="l">
              <a:buNone/>
            </a:pPr>
            <a:r>
              <a:rPr lang="en-US" sz="1250" dirty="0">
                <a:solidFill>
                  <a:srgbClr val="3D5A61"/>
                </a:solidFill>
                <a:latin typeface="Malgun Gothic" pitchFamily="34" charset="0"/>
                <a:ea typeface="Malgun Gothic" pitchFamily="34" charset="-122"/>
                <a:cs typeface="Malgun Gothic" pitchFamily="34" charset="-120"/>
              </a:rPr>
              <a:t>지수 산출 후 키워드 455종 중 선별해 대기질 / 대기정책 / 생활(건강)으로 </a:t>
            </a:r>
            <a:r>
              <a:rPr lang="en-US" sz="1250" dirty="0" err="1">
                <a:solidFill>
                  <a:srgbClr val="3D5A61"/>
                </a:solidFill>
                <a:latin typeface="Malgun Gothic" pitchFamily="34" charset="0"/>
                <a:ea typeface="Malgun Gothic" pitchFamily="34" charset="-122"/>
                <a:cs typeface="Malgun Gothic" pitchFamily="34" charset="-120"/>
              </a:rPr>
              <a:t>세부</a:t>
            </a:r>
            <a:r>
              <a:rPr lang="en-US" sz="1250" dirty="0">
                <a:solidFill>
                  <a:srgbClr val="3D5A61"/>
                </a:solidFill>
                <a:latin typeface="Malgun Gothic" pitchFamily="34" charset="0"/>
                <a:ea typeface="Malgun Gothic" pitchFamily="34" charset="-122"/>
                <a:cs typeface="Malgun Gothic" pitchFamily="34" charset="-120"/>
              </a:rPr>
              <a:t> </a:t>
            </a:r>
            <a:r>
              <a:rPr lang="en-US" sz="1250" dirty="0" err="1">
                <a:solidFill>
                  <a:srgbClr val="3D5A61"/>
                </a:solidFill>
                <a:latin typeface="Malgun Gothic" pitchFamily="34" charset="0"/>
                <a:ea typeface="Malgun Gothic" pitchFamily="34" charset="-122"/>
                <a:cs typeface="Malgun Gothic" pitchFamily="34" charset="-120"/>
              </a:rPr>
              <a:t>분류</a:t>
            </a:r>
            <a:r>
              <a:rPr lang="en-US" sz="1250" dirty="0">
                <a:solidFill>
                  <a:srgbClr val="3D5A61"/>
                </a:solidFill>
                <a:latin typeface="Malgun Gothic" pitchFamily="34" charset="0"/>
                <a:ea typeface="Malgun Gothic" pitchFamily="34" charset="-122"/>
                <a:cs typeface="Malgun Gothic" pitchFamily="34" charset="-120"/>
              </a:rPr>
              <a:t> (</a:t>
            </a:r>
            <a:r>
              <a:rPr lang="ko-KR" altLang="en-US" sz="1250" dirty="0">
                <a:solidFill>
                  <a:srgbClr val="3D5A61"/>
                </a:solidFill>
                <a:latin typeface="Malgun Gothic" pitchFamily="34" charset="0"/>
                <a:ea typeface="Malgun Gothic" pitchFamily="34" charset="-122"/>
                <a:cs typeface="Malgun Gothic" pitchFamily="34" charset="-120"/>
              </a:rPr>
              <a:t>수집 키워드 </a:t>
            </a:r>
            <a:r>
              <a:rPr lang="en-US" altLang="ko-KR" sz="1250" dirty="0">
                <a:solidFill>
                  <a:srgbClr val="3D5A61"/>
                </a:solidFill>
                <a:latin typeface="Malgun Gothic" pitchFamily="34" charset="0"/>
                <a:ea typeface="Malgun Gothic" pitchFamily="34" charset="-122"/>
                <a:cs typeface="Malgun Gothic" pitchFamily="34" charset="-120"/>
              </a:rPr>
              <a:t>450</a:t>
            </a:r>
            <a:r>
              <a:rPr lang="ko-KR" altLang="en-US" sz="1250" dirty="0">
                <a:solidFill>
                  <a:srgbClr val="3D5A61"/>
                </a:solidFill>
                <a:latin typeface="Malgun Gothic" pitchFamily="34" charset="0"/>
                <a:ea typeface="Malgun Gothic" pitchFamily="34" charset="-122"/>
                <a:cs typeface="Malgun Gothic" pitchFamily="34" charset="-120"/>
              </a:rPr>
              <a:t>건 활용</a:t>
            </a:r>
            <a:r>
              <a:rPr lang="en-US" altLang="ko-KR" sz="1250" dirty="0">
                <a:solidFill>
                  <a:srgbClr val="3D5A61"/>
                </a:solidFill>
                <a:latin typeface="Malgun Gothic" pitchFamily="34" charset="0"/>
                <a:ea typeface="Malgun Gothic" pitchFamily="34" charset="-122"/>
                <a:cs typeface="Malgun Gothic" pitchFamily="34" charset="-120"/>
              </a:rPr>
              <a: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56032"/>
            <a:ext cx="8686800" cy="438912"/>
          </a:xfrm>
          <a:prstGeom prst="rect">
            <a:avLst/>
          </a:prstGeom>
          <a:noFill/>
          <a:ln/>
        </p:spPr>
        <p:txBody>
          <a:bodyPr wrap="square" lIns="0" tIns="0" rIns="0" bIns="0" rtlCol="0" anchor="ctr"/>
          <a:lstStyle/>
          <a:p>
            <a:pPr marL="0" indent="0" algn="l">
              <a:buNone/>
            </a:pPr>
            <a:r>
              <a:rPr lang="en-US" sz="2700" b="1" dirty="0">
                <a:solidFill>
                  <a:srgbClr val="14343B"/>
                </a:solidFill>
                <a:latin typeface="Malgun Gothic" pitchFamily="34" charset="0"/>
                <a:ea typeface="Malgun Gothic" pitchFamily="34" charset="-122"/>
                <a:cs typeface="Malgun Gothic" pitchFamily="34" charset="-120"/>
              </a:rPr>
              <a:t>요구도 지수 · 산출 4안</a:t>
            </a:r>
            <a:endParaRPr lang="en-US" sz="2700" dirty="0"/>
          </a:p>
        </p:txBody>
      </p:sp>
      <p:sp>
        <p:nvSpPr>
          <p:cNvPr id="3" name="Text 1"/>
          <p:cNvSpPr txBox="1"/>
          <p:nvPr/>
        </p:nvSpPr>
        <p:spPr>
          <a:xfrm>
            <a:off x="640080" y="713232"/>
            <a:ext cx="10881360" cy="274320"/>
          </a:xfrm>
          <a:prstGeom prst="rect">
            <a:avLst/>
          </a:prstGeom>
          <a:noFill/>
          <a:ln/>
        </p:spPr>
        <p:txBody>
          <a:bodyPr wrap="square" lIns="0" tIns="0" rIns="0" bIns="0" rtlCol="0" anchor="ctr"/>
          <a:lstStyle/>
          <a:p>
            <a:pPr marL="0" indent="0" algn="l">
              <a:buNone/>
            </a:pPr>
            <a:r>
              <a:rPr lang="en-US" sz="1300" dirty="0">
                <a:solidFill>
                  <a:srgbClr val="6B7D82"/>
                </a:solidFill>
                <a:latin typeface="Malgun Gothic" pitchFamily="34" charset="0"/>
                <a:ea typeface="Malgun Gothic" pitchFamily="34" charset="-122"/>
                <a:cs typeface="Malgun Gothic" pitchFamily="34" charset="-120"/>
              </a:rPr>
              <a:t>필터링 방식 2종 × 요구도 기사 선별 방식 2종의 조합</a:t>
            </a:r>
            <a:endParaRPr lang="en-US" sz="1300" dirty="0"/>
          </a:p>
        </p:txBody>
      </p:sp>
      <p:sp>
        <p:nvSpPr>
          <p:cNvPr id="4" name="Shape 2"/>
          <p:cNvSpPr/>
          <p:nvPr/>
        </p:nvSpPr>
        <p:spPr>
          <a:xfrm>
            <a:off x="640080" y="1170432"/>
            <a:ext cx="10908792" cy="548640"/>
          </a:xfrm>
          <a:prstGeom prst="roundRect">
            <a:avLst>
              <a:gd name="adj" fmla="val 13333"/>
            </a:avLst>
          </a:prstGeom>
          <a:solidFill>
            <a:srgbClr val="1F3A44"/>
          </a:solidFill>
          <a:ln/>
        </p:spPr>
      </p:sp>
      <p:sp>
        <p:nvSpPr>
          <p:cNvPr id="5" name="Text 3"/>
          <p:cNvSpPr txBox="1"/>
          <p:nvPr/>
        </p:nvSpPr>
        <p:spPr>
          <a:xfrm>
            <a:off x="640080" y="1170432"/>
            <a:ext cx="10908792" cy="548640"/>
          </a:xfrm>
          <a:prstGeom prst="rect">
            <a:avLst/>
          </a:prstGeom>
          <a:noFill/>
          <a:ln/>
        </p:spPr>
        <p:txBody>
          <a:bodyPr wrap="square" lIns="0" tIns="0" rIns="0" bIns="0" rtlCol="0" anchor="ctr"/>
          <a:lstStyle/>
          <a:p>
            <a:pPr marL="0" indent="0" algn="ctr">
              <a:buNone/>
            </a:pPr>
            <a:r>
              <a:rPr lang="en-US" sz="1400" dirty="0">
                <a:solidFill>
                  <a:srgbClr val="E3ECEE"/>
                </a:solidFill>
                <a:latin typeface="Malgun Gothic" pitchFamily="34" charset="0"/>
                <a:ea typeface="Malgun Gothic" pitchFamily="34" charset="-122"/>
                <a:cs typeface="Malgun Gothic" pitchFamily="34" charset="-120"/>
              </a:rPr>
              <a:t>공통 원천   ·   전체기사수 약 67만건   →   언론 필터링(17개사) 약 21만건</a:t>
            </a:r>
            <a:endParaRPr lang="en-US" sz="1400" dirty="0"/>
          </a:p>
        </p:txBody>
      </p:sp>
      <p:sp>
        <p:nvSpPr>
          <p:cNvPr id="6" name="Text 4"/>
          <p:cNvSpPr txBox="1"/>
          <p:nvPr/>
        </p:nvSpPr>
        <p:spPr>
          <a:xfrm>
            <a:off x="640080" y="2084832"/>
            <a:ext cx="2377440" cy="384048"/>
          </a:xfrm>
          <a:prstGeom prst="rect">
            <a:avLst/>
          </a:prstGeom>
          <a:noFill/>
          <a:ln/>
        </p:spPr>
        <p:txBody>
          <a:bodyPr wrap="square" lIns="0" tIns="0" rIns="0" bIns="0" rtlCol="0" anchor="ctr"/>
          <a:lstStyle/>
          <a:p>
            <a:pPr marL="0" indent="0" algn="r">
              <a:buNone/>
            </a:pPr>
            <a:r>
              <a:rPr lang="en-US" sz="1100" b="1" dirty="0">
                <a:solidFill>
                  <a:srgbClr val="7A9299"/>
                </a:solidFill>
                <a:latin typeface="Malgun Gothic" pitchFamily="34" charset="0"/>
                <a:ea typeface="Malgun Gothic" pitchFamily="34" charset="-122"/>
                <a:cs typeface="Malgun Gothic" pitchFamily="34" charset="-120"/>
              </a:rPr>
              <a:t>요구도 기사 선별 방식</a:t>
            </a:r>
            <a:endParaRPr lang="en-US" sz="1100" dirty="0"/>
          </a:p>
        </p:txBody>
      </p:sp>
      <p:sp>
        <p:nvSpPr>
          <p:cNvPr id="7" name="Shape 5"/>
          <p:cNvSpPr/>
          <p:nvPr/>
        </p:nvSpPr>
        <p:spPr>
          <a:xfrm>
            <a:off x="3246120" y="2084832"/>
            <a:ext cx="4087368" cy="384048"/>
          </a:xfrm>
          <a:prstGeom prst="roundRect">
            <a:avLst>
              <a:gd name="adj" fmla="val 50000"/>
            </a:avLst>
          </a:prstGeom>
          <a:solidFill>
            <a:srgbClr val="B85042"/>
          </a:solidFill>
          <a:ln/>
        </p:spPr>
      </p:sp>
      <p:sp>
        <p:nvSpPr>
          <p:cNvPr id="8" name="Text 6"/>
          <p:cNvSpPr txBox="1"/>
          <p:nvPr/>
        </p:nvSpPr>
        <p:spPr>
          <a:xfrm>
            <a:off x="3246120" y="2084832"/>
            <a:ext cx="408736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LLM 요구도 </a:t>
            </a:r>
            <a:r>
              <a:rPr lang="en-US" sz="1300" b="1" dirty="0" err="1">
                <a:solidFill>
                  <a:srgbClr val="FFFFFF"/>
                </a:solidFill>
                <a:latin typeface="Malgun Gothic" pitchFamily="34" charset="0"/>
                <a:ea typeface="Malgun Gothic" pitchFamily="34" charset="-122"/>
                <a:cs typeface="Malgun Gothic" pitchFamily="34" charset="-120"/>
              </a:rPr>
              <a:t>기사</a:t>
            </a:r>
            <a:r>
              <a:rPr lang="en-US" sz="1300" b="1" dirty="0">
                <a:solidFill>
                  <a:srgbClr val="FFFFFF"/>
                </a:solidFill>
                <a:latin typeface="Malgun Gothic" pitchFamily="34" charset="0"/>
                <a:ea typeface="Malgun Gothic" pitchFamily="34" charset="-122"/>
                <a:cs typeface="Malgun Gothic" pitchFamily="34" charset="-120"/>
              </a:rPr>
              <a:t> </a:t>
            </a:r>
            <a:r>
              <a:rPr lang="en-US" sz="1300" b="1" dirty="0" err="1">
                <a:solidFill>
                  <a:srgbClr val="FFFFFF"/>
                </a:solidFill>
                <a:latin typeface="Malgun Gothic" pitchFamily="34" charset="0"/>
                <a:ea typeface="Malgun Gothic" pitchFamily="34" charset="-122"/>
                <a:cs typeface="Malgun Gothic" pitchFamily="34" charset="-120"/>
              </a:rPr>
              <a:t>선별</a:t>
            </a:r>
            <a:r>
              <a:rPr lang="en-US" sz="1300" b="1" dirty="0">
                <a:solidFill>
                  <a:srgbClr val="FFFFFF"/>
                </a:solidFill>
                <a:latin typeface="Malgun Gothic" pitchFamily="34" charset="0"/>
                <a:ea typeface="Malgun Gothic" pitchFamily="34" charset="-122"/>
                <a:cs typeface="Malgun Gothic" pitchFamily="34" charset="-120"/>
              </a:rPr>
              <a:t> (</a:t>
            </a:r>
            <a:r>
              <a:rPr lang="ko-KR" altLang="en-US" sz="1300" b="1" dirty="0">
                <a:solidFill>
                  <a:srgbClr val="FFFFFF"/>
                </a:solidFill>
                <a:latin typeface="Malgun Gothic" pitchFamily="34" charset="0"/>
                <a:ea typeface="Malgun Gothic" pitchFamily="34" charset="-122"/>
                <a:cs typeface="Malgun Gothic" pitchFamily="34" charset="-120"/>
              </a:rPr>
              <a:t>지수화</a:t>
            </a:r>
            <a:r>
              <a:rPr lang="en-US" altLang="ko-KR"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9" name="Shape 7"/>
          <p:cNvSpPr/>
          <p:nvPr/>
        </p:nvSpPr>
        <p:spPr>
          <a:xfrm>
            <a:off x="7552944" y="2084832"/>
            <a:ext cx="4087368" cy="384048"/>
          </a:xfrm>
          <a:prstGeom prst="roundRect">
            <a:avLst>
              <a:gd name="adj" fmla="val 50000"/>
            </a:avLst>
          </a:prstGeom>
          <a:solidFill>
            <a:srgbClr val="028090"/>
          </a:solidFill>
          <a:ln/>
        </p:spPr>
      </p:sp>
      <p:sp>
        <p:nvSpPr>
          <p:cNvPr id="10" name="Text 8"/>
          <p:cNvSpPr txBox="1"/>
          <p:nvPr/>
        </p:nvSpPr>
        <p:spPr>
          <a:xfrm>
            <a:off x="7552944" y="2084832"/>
            <a:ext cx="408736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키워드 요구도 </a:t>
            </a:r>
            <a:r>
              <a:rPr lang="en-US" sz="1300" b="1" dirty="0" err="1">
                <a:solidFill>
                  <a:srgbClr val="FFFFFF"/>
                </a:solidFill>
                <a:latin typeface="Malgun Gothic" pitchFamily="34" charset="0"/>
                <a:ea typeface="Malgun Gothic" pitchFamily="34" charset="-122"/>
                <a:cs typeface="Malgun Gothic" pitchFamily="34" charset="-120"/>
              </a:rPr>
              <a:t>기사</a:t>
            </a:r>
            <a:r>
              <a:rPr lang="en-US" sz="1300" b="1" dirty="0">
                <a:solidFill>
                  <a:srgbClr val="FFFFFF"/>
                </a:solidFill>
                <a:latin typeface="Malgun Gothic" pitchFamily="34" charset="0"/>
                <a:ea typeface="Malgun Gothic" pitchFamily="34" charset="-122"/>
                <a:cs typeface="Malgun Gothic" pitchFamily="34" charset="-120"/>
              </a:rPr>
              <a:t> </a:t>
            </a:r>
            <a:r>
              <a:rPr lang="en-US" sz="1300" b="1" dirty="0" err="1">
                <a:solidFill>
                  <a:srgbClr val="FFFFFF"/>
                </a:solidFill>
                <a:latin typeface="Malgun Gothic" pitchFamily="34" charset="0"/>
                <a:ea typeface="Malgun Gothic" pitchFamily="34" charset="-122"/>
                <a:cs typeface="Malgun Gothic" pitchFamily="34" charset="-120"/>
              </a:rPr>
              <a:t>선별</a:t>
            </a:r>
            <a:r>
              <a:rPr lang="en-US" sz="1300" b="1" dirty="0">
                <a:solidFill>
                  <a:srgbClr val="FFFFFF"/>
                </a:solidFill>
                <a:latin typeface="Malgun Gothic" pitchFamily="34" charset="0"/>
                <a:ea typeface="Malgun Gothic" pitchFamily="34" charset="-122"/>
                <a:cs typeface="Malgun Gothic" pitchFamily="34" charset="-120"/>
              </a:rPr>
              <a:t> (</a:t>
            </a:r>
            <a:r>
              <a:rPr lang="ko-KR" altLang="en-US" sz="1300" b="1" dirty="0">
                <a:solidFill>
                  <a:srgbClr val="FFFFFF"/>
                </a:solidFill>
                <a:latin typeface="Malgun Gothic" pitchFamily="34" charset="0"/>
                <a:ea typeface="Malgun Gothic" pitchFamily="34" charset="-122"/>
                <a:cs typeface="Malgun Gothic" pitchFamily="34" charset="-120"/>
              </a:rPr>
              <a:t>지수화</a:t>
            </a:r>
            <a:r>
              <a:rPr lang="en-US" altLang="ko-KR"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11" name="Text 9"/>
          <p:cNvSpPr txBox="1"/>
          <p:nvPr/>
        </p:nvSpPr>
        <p:spPr>
          <a:xfrm>
            <a:off x="640080" y="2971800"/>
            <a:ext cx="2377440" cy="329184"/>
          </a:xfrm>
          <a:prstGeom prst="rect">
            <a:avLst/>
          </a:prstGeom>
          <a:noFill/>
          <a:ln/>
        </p:spPr>
        <p:txBody>
          <a:bodyPr wrap="square" lIns="0" tIns="0" rIns="0" bIns="0" rtlCol="0" anchor="ctr"/>
          <a:lstStyle/>
          <a:p>
            <a:pPr marL="0" indent="0" algn="r">
              <a:buNone/>
            </a:pPr>
            <a:r>
              <a:rPr lang="en-US" sz="1500" b="1" dirty="0">
                <a:solidFill>
                  <a:srgbClr val="04606B"/>
                </a:solidFill>
                <a:latin typeface="Malgun Gothic" pitchFamily="34" charset="0"/>
                <a:ea typeface="Malgun Gothic" pitchFamily="34" charset="-122"/>
                <a:cs typeface="Malgun Gothic" pitchFamily="34" charset="-120"/>
              </a:rPr>
              <a:t>키워드 기반 필터링</a:t>
            </a:r>
            <a:endParaRPr lang="en-US" sz="1500" dirty="0"/>
          </a:p>
        </p:txBody>
      </p:sp>
      <p:sp>
        <p:nvSpPr>
          <p:cNvPr id="12" name="Text 10"/>
          <p:cNvSpPr txBox="1"/>
          <p:nvPr/>
        </p:nvSpPr>
        <p:spPr>
          <a:xfrm>
            <a:off x="640080" y="3337560"/>
            <a:ext cx="2377440" cy="548640"/>
          </a:xfrm>
          <a:prstGeom prst="rect">
            <a:avLst/>
          </a:prstGeom>
          <a:noFill/>
          <a:ln/>
        </p:spPr>
        <p:txBody>
          <a:bodyPr wrap="square" lIns="0" tIns="0" rIns="0" bIns="0" rtlCol="0" anchor="t"/>
          <a:lstStyle/>
          <a:p>
            <a:pPr marL="0" indent="0" algn="r">
              <a:lnSpc>
                <a:spcPct val="130000"/>
              </a:lnSpc>
              <a:buNone/>
            </a:pPr>
            <a:r>
              <a:rPr lang="en-US" sz="1100" dirty="0">
                <a:solidFill>
                  <a:srgbClr val="6B7D82"/>
                </a:solidFill>
                <a:latin typeface="Malgun Gothic" pitchFamily="34" charset="0"/>
                <a:ea typeface="Malgun Gothic" pitchFamily="34" charset="-122"/>
                <a:cs typeface="Malgun Gothic" pitchFamily="34" charset="-120"/>
              </a:rPr>
              <a:t>키워드로 대기환경</a:t>
            </a:r>
            <a:endParaRPr lang="en-US" sz="1100" dirty="0"/>
          </a:p>
          <a:p>
            <a:pPr marL="0" indent="0" algn="r">
              <a:lnSpc>
                <a:spcPct val="130000"/>
              </a:lnSpc>
              <a:buNone/>
            </a:pPr>
            <a:r>
              <a:rPr lang="en-US" sz="1100" dirty="0">
                <a:solidFill>
                  <a:srgbClr val="6B7D82"/>
                </a:solidFill>
                <a:latin typeface="Malgun Gothic" pitchFamily="34" charset="0"/>
                <a:ea typeface="Malgun Gothic" pitchFamily="34" charset="-122"/>
                <a:cs typeface="Malgun Gothic" pitchFamily="34" charset="-120"/>
              </a:rPr>
              <a:t>무관 기사 제거</a:t>
            </a:r>
            <a:endParaRPr lang="en-US" sz="1100" dirty="0"/>
          </a:p>
        </p:txBody>
      </p:sp>
      <p:sp>
        <p:nvSpPr>
          <p:cNvPr id="13" name="Text 11"/>
          <p:cNvSpPr txBox="1"/>
          <p:nvPr/>
        </p:nvSpPr>
        <p:spPr>
          <a:xfrm>
            <a:off x="640080" y="4590288"/>
            <a:ext cx="2377440" cy="329184"/>
          </a:xfrm>
          <a:prstGeom prst="rect">
            <a:avLst/>
          </a:prstGeom>
          <a:noFill/>
          <a:ln/>
        </p:spPr>
        <p:txBody>
          <a:bodyPr wrap="square" lIns="0" tIns="0" rIns="0" bIns="0" rtlCol="0" anchor="ctr"/>
          <a:lstStyle/>
          <a:p>
            <a:pPr marL="0" indent="0" algn="r">
              <a:buNone/>
            </a:pPr>
            <a:r>
              <a:rPr lang="en-US" sz="1500" b="1" dirty="0">
                <a:solidFill>
                  <a:srgbClr val="8E3A2E"/>
                </a:solidFill>
                <a:latin typeface="Malgun Gothic" pitchFamily="34" charset="0"/>
                <a:ea typeface="Malgun Gothic" pitchFamily="34" charset="-122"/>
                <a:cs typeface="Malgun Gothic" pitchFamily="34" charset="-120"/>
              </a:rPr>
              <a:t>LLM 기반 필터링</a:t>
            </a:r>
            <a:endParaRPr lang="en-US" sz="1500" dirty="0"/>
          </a:p>
        </p:txBody>
      </p:sp>
      <p:sp>
        <p:nvSpPr>
          <p:cNvPr id="14" name="Text 12"/>
          <p:cNvSpPr txBox="1"/>
          <p:nvPr/>
        </p:nvSpPr>
        <p:spPr>
          <a:xfrm>
            <a:off x="640080" y="4956048"/>
            <a:ext cx="2377440" cy="548640"/>
          </a:xfrm>
          <a:prstGeom prst="rect">
            <a:avLst/>
          </a:prstGeom>
          <a:noFill/>
          <a:ln/>
        </p:spPr>
        <p:txBody>
          <a:bodyPr wrap="square" lIns="0" tIns="0" rIns="0" bIns="0" rtlCol="0" anchor="t"/>
          <a:lstStyle/>
          <a:p>
            <a:pPr marL="0" indent="0" algn="r">
              <a:lnSpc>
                <a:spcPct val="130000"/>
              </a:lnSpc>
              <a:buNone/>
            </a:pPr>
            <a:r>
              <a:rPr lang="en-US" sz="1100" dirty="0">
                <a:solidFill>
                  <a:srgbClr val="6B7D82"/>
                </a:solidFill>
                <a:latin typeface="Malgun Gothic" pitchFamily="34" charset="0"/>
                <a:ea typeface="Malgun Gothic" pitchFamily="34" charset="-122"/>
                <a:cs typeface="Malgun Gothic" pitchFamily="34" charset="-120"/>
              </a:rPr>
              <a:t>LLM으로 대기환경</a:t>
            </a:r>
            <a:endParaRPr lang="en-US" sz="1100" dirty="0"/>
          </a:p>
          <a:p>
            <a:pPr marL="0" indent="0" algn="r">
              <a:lnSpc>
                <a:spcPct val="130000"/>
              </a:lnSpc>
              <a:buNone/>
            </a:pPr>
            <a:r>
              <a:rPr lang="en-US" sz="1100" dirty="0">
                <a:solidFill>
                  <a:srgbClr val="6B7D82"/>
                </a:solidFill>
                <a:latin typeface="Malgun Gothic" pitchFamily="34" charset="0"/>
                <a:ea typeface="Malgun Gothic" pitchFamily="34" charset="-122"/>
                <a:cs typeface="Malgun Gothic" pitchFamily="34" charset="-120"/>
              </a:rPr>
              <a:t>무관 기사 제거</a:t>
            </a:r>
            <a:endParaRPr lang="en-US" sz="1100" dirty="0"/>
          </a:p>
        </p:txBody>
      </p:sp>
      <p:sp>
        <p:nvSpPr>
          <p:cNvPr id="15" name="Shape 13"/>
          <p:cNvSpPr/>
          <p:nvPr/>
        </p:nvSpPr>
        <p:spPr>
          <a:xfrm>
            <a:off x="3246120" y="2697480"/>
            <a:ext cx="4087368" cy="1481328"/>
          </a:xfrm>
          <a:prstGeom prst="roundRect">
            <a:avLst>
              <a:gd name="adj" fmla="val 4938"/>
            </a:avLst>
          </a:prstGeom>
          <a:solidFill>
            <a:srgbClr val="FBFCFC"/>
          </a:solidFill>
          <a:ln w="15875">
            <a:solidFill>
              <a:srgbClr val="D5DFE2"/>
            </a:solidFill>
            <a:prstDash val="solid"/>
          </a:ln>
        </p:spPr>
      </p:sp>
      <p:sp>
        <p:nvSpPr>
          <p:cNvPr id="16" name="Text 14"/>
          <p:cNvSpPr txBox="1"/>
          <p:nvPr/>
        </p:nvSpPr>
        <p:spPr>
          <a:xfrm>
            <a:off x="3520440" y="2898648"/>
            <a:ext cx="3538728" cy="347472"/>
          </a:xfrm>
          <a:prstGeom prst="rect">
            <a:avLst/>
          </a:prstGeom>
          <a:noFill/>
          <a:ln/>
        </p:spPr>
        <p:txBody>
          <a:bodyPr wrap="square" lIns="0" tIns="0" rIns="0" bIns="0" rtlCol="0" anchor="ctr"/>
          <a:lstStyle/>
          <a:p>
            <a:pPr marL="0" indent="0" algn="l">
              <a:buNone/>
            </a:pPr>
            <a:r>
              <a:rPr lang="en-US" sz="1900" b="1" dirty="0">
                <a:solidFill>
                  <a:srgbClr val="14343B"/>
                </a:solidFill>
                <a:latin typeface="Malgun Gothic" pitchFamily="34" charset="0"/>
                <a:ea typeface="Malgun Gothic" pitchFamily="34" charset="-122"/>
                <a:cs typeface="Malgun Gothic" pitchFamily="34" charset="-120"/>
              </a:rPr>
              <a:t>요구도 지수 1</a:t>
            </a:r>
            <a:endParaRPr lang="en-US" sz="1900" dirty="0"/>
          </a:p>
        </p:txBody>
      </p:sp>
      <p:sp>
        <p:nvSpPr>
          <p:cNvPr id="17" name="Text 15"/>
          <p:cNvSpPr txBox="1"/>
          <p:nvPr/>
        </p:nvSpPr>
        <p:spPr>
          <a:xfrm>
            <a:off x="3520440" y="3319272"/>
            <a:ext cx="3538728" cy="310896"/>
          </a:xfrm>
          <a:prstGeom prst="rect">
            <a:avLst/>
          </a:prstGeom>
          <a:noFill/>
          <a:ln/>
        </p:spPr>
        <p:txBody>
          <a:bodyPr wrap="square" lIns="0" tIns="0" rIns="0" bIns="0" rtlCol="0" anchor="ctr"/>
          <a:lstStyle/>
          <a:p>
            <a:pPr marL="0" indent="0" algn="l">
              <a:buNone/>
            </a:pPr>
            <a:r>
              <a:rPr lang="en-US" sz="1200" b="1" dirty="0" err="1">
                <a:solidFill>
                  <a:srgbClr val="04606B"/>
                </a:solidFill>
                <a:latin typeface="Malgun Gothic" pitchFamily="34" charset="0"/>
                <a:ea typeface="Malgun Gothic" pitchFamily="34" charset="-122"/>
                <a:cs typeface="Malgun Gothic" pitchFamily="34" charset="-120"/>
              </a:rPr>
              <a:t>키워드</a:t>
            </a:r>
            <a:r>
              <a:rPr lang="en-US" sz="1200" b="1" dirty="0">
                <a:solidFill>
                  <a:srgbClr val="04606B"/>
                </a:solidFill>
                <a:latin typeface="Malgun Gothic" pitchFamily="34" charset="0"/>
                <a:ea typeface="Malgun Gothic" pitchFamily="34" charset="-122"/>
                <a:cs typeface="Malgun Gothic" pitchFamily="34" charset="-120"/>
              </a:rPr>
              <a:t> </a:t>
            </a:r>
            <a:r>
              <a:rPr lang="en-US" sz="1200" b="1" dirty="0" err="1">
                <a:solidFill>
                  <a:srgbClr val="04606B"/>
                </a:solidFill>
                <a:latin typeface="Malgun Gothic" pitchFamily="34" charset="0"/>
                <a:ea typeface="Malgun Gothic" pitchFamily="34" charset="-122"/>
                <a:cs typeface="Malgun Gothic" pitchFamily="34" charset="-120"/>
              </a:rPr>
              <a:t>필터링</a:t>
            </a:r>
            <a:r>
              <a:rPr lang="en-US" sz="1200" dirty="0">
                <a:solidFill>
                  <a:srgbClr val="6B7D82"/>
                </a:solidFill>
                <a:latin typeface="Malgun Gothic" pitchFamily="34" charset="0"/>
                <a:ea typeface="Malgun Gothic" pitchFamily="34" charset="-122"/>
                <a:cs typeface="Malgun Gothic" pitchFamily="34" charset="-120"/>
              </a:rPr>
              <a:t>  →  </a:t>
            </a:r>
            <a:r>
              <a:rPr lang="en-US" sz="1200" b="1" dirty="0">
                <a:solidFill>
                  <a:srgbClr val="8E3A2E"/>
                </a:solidFill>
                <a:latin typeface="Malgun Gothic" pitchFamily="34" charset="0"/>
                <a:ea typeface="Malgun Gothic" pitchFamily="34" charset="-122"/>
                <a:cs typeface="Malgun Gothic" pitchFamily="34" charset="-120"/>
              </a:rPr>
              <a:t>LLM </a:t>
            </a:r>
            <a:r>
              <a:rPr lang="en-US" sz="1200" b="1" dirty="0" err="1">
                <a:solidFill>
                  <a:srgbClr val="8E3A2E"/>
                </a:solidFill>
                <a:latin typeface="Malgun Gothic" pitchFamily="34" charset="0"/>
                <a:ea typeface="Malgun Gothic" pitchFamily="34" charset="-122"/>
                <a:cs typeface="Malgun Gothic" pitchFamily="34" charset="-120"/>
              </a:rPr>
              <a:t>요구</a:t>
            </a:r>
            <a:r>
              <a:rPr lang="ko-KR" altLang="en-US" sz="1200" b="1" dirty="0">
                <a:solidFill>
                  <a:srgbClr val="8E3A2E"/>
                </a:solidFill>
                <a:latin typeface="Malgun Gothic" pitchFamily="34" charset="0"/>
                <a:ea typeface="Malgun Gothic" pitchFamily="34" charset="-122"/>
                <a:cs typeface="Malgun Gothic" pitchFamily="34" charset="-120"/>
              </a:rPr>
              <a:t>선별 </a:t>
            </a:r>
            <a:r>
              <a:rPr lang="en-US" altLang="ko-KR" sz="1200" b="1" dirty="0">
                <a:solidFill>
                  <a:srgbClr val="8E3A2E"/>
                </a:solidFill>
                <a:latin typeface="Malgun Gothic" pitchFamily="34" charset="0"/>
                <a:ea typeface="Malgun Gothic" pitchFamily="34" charset="-122"/>
                <a:cs typeface="Malgun Gothic" pitchFamily="34" charset="-120"/>
              </a:rPr>
              <a:t>(</a:t>
            </a:r>
            <a:r>
              <a:rPr lang="ko-KR" altLang="en-US" sz="1200" b="1" dirty="0">
                <a:solidFill>
                  <a:srgbClr val="8E3A2E"/>
                </a:solidFill>
                <a:latin typeface="Malgun Gothic" pitchFamily="34" charset="0"/>
                <a:ea typeface="Malgun Gothic" pitchFamily="34" charset="-122"/>
                <a:cs typeface="Malgun Gothic" pitchFamily="34" charset="-120"/>
              </a:rPr>
              <a:t>지수화</a:t>
            </a:r>
            <a:r>
              <a:rPr lang="en-US" altLang="ko-KR" sz="1200" b="1" dirty="0">
                <a:solidFill>
                  <a:srgbClr val="8E3A2E"/>
                </a:solidFill>
                <a:latin typeface="Malgun Gothic" pitchFamily="34" charset="0"/>
                <a:ea typeface="Malgun Gothic" pitchFamily="34" charset="-122"/>
                <a:cs typeface="Malgun Gothic" pitchFamily="34" charset="-120"/>
              </a:rPr>
              <a:t>)</a:t>
            </a:r>
            <a:endParaRPr lang="en-US" sz="1200" dirty="0"/>
          </a:p>
        </p:txBody>
      </p:sp>
      <p:sp>
        <p:nvSpPr>
          <p:cNvPr id="18" name="Text 16"/>
          <p:cNvSpPr txBox="1"/>
          <p:nvPr/>
        </p:nvSpPr>
        <p:spPr>
          <a:xfrm>
            <a:off x="3520440" y="3666744"/>
            <a:ext cx="3538728" cy="274320"/>
          </a:xfrm>
          <a:prstGeom prst="rect">
            <a:avLst/>
          </a:prstGeom>
          <a:noFill/>
          <a:ln/>
        </p:spPr>
        <p:txBody>
          <a:bodyPr wrap="square" lIns="0" tIns="0" rIns="0" bIns="0" rtlCol="0" anchor="ctr"/>
          <a:lstStyle/>
          <a:p>
            <a:pPr marL="0" indent="0" algn="l">
              <a:buNone/>
            </a:pPr>
            <a:r>
              <a:rPr lang="en-US" sz="1050" dirty="0">
                <a:solidFill>
                  <a:srgbClr val="6B7D82"/>
                </a:solidFill>
                <a:latin typeface="Malgun Gothic" pitchFamily="34" charset="0"/>
                <a:ea typeface="Malgun Gothic" pitchFamily="34" charset="-122"/>
                <a:cs typeface="Malgun Gothic" pitchFamily="34" charset="-120"/>
              </a:rPr>
              <a:t>혼합 방식</a:t>
            </a:r>
            <a:endParaRPr lang="en-US" sz="1050" dirty="0"/>
          </a:p>
        </p:txBody>
      </p:sp>
      <p:sp>
        <p:nvSpPr>
          <p:cNvPr id="19" name="Shape 17"/>
          <p:cNvSpPr/>
          <p:nvPr/>
        </p:nvSpPr>
        <p:spPr>
          <a:xfrm>
            <a:off x="7552944" y="2697480"/>
            <a:ext cx="4087368" cy="1481328"/>
          </a:xfrm>
          <a:prstGeom prst="roundRect">
            <a:avLst>
              <a:gd name="adj" fmla="val 4938"/>
            </a:avLst>
          </a:prstGeom>
          <a:solidFill>
            <a:srgbClr val="EAF4F5"/>
          </a:solidFill>
          <a:ln w="15875">
            <a:solidFill>
              <a:srgbClr val="028090"/>
            </a:solidFill>
            <a:prstDash val="solid"/>
          </a:ln>
        </p:spPr>
      </p:sp>
      <p:sp>
        <p:nvSpPr>
          <p:cNvPr id="20" name="Text 18"/>
          <p:cNvSpPr txBox="1"/>
          <p:nvPr/>
        </p:nvSpPr>
        <p:spPr>
          <a:xfrm>
            <a:off x="7827264" y="2898648"/>
            <a:ext cx="3538728" cy="347472"/>
          </a:xfrm>
          <a:prstGeom prst="rect">
            <a:avLst/>
          </a:prstGeom>
          <a:noFill/>
          <a:ln/>
        </p:spPr>
        <p:txBody>
          <a:bodyPr wrap="square" lIns="0" tIns="0" rIns="0" bIns="0" rtlCol="0" anchor="ctr"/>
          <a:lstStyle/>
          <a:p>
            <a:pPr marL="0" indent="0" algn="l">
              <a:buNone/>
            </a:pPr>
            <a:r>
              <a:rPr lang="en-US" sz="1900" b="1" dirty="0">
                <a:solidFill>
                  <a:srgbClr val="14343B"/>
                </a:solidFill>
                <a:latin typeface="Malgun Gothic" pitchFamily="34" charset="0"/>
                <a:ea typeface="Malgun Gothic" pitchFamily="34" charset="-122"/>
                <a:cs typeface="Malgun Gothic" pitchFamily="34" charset="-120"/>
              </a:rPr>
              <a:t>요구도 지수 2</a:t>
            </a:r>
            <a:endParaRPr lang="en-US" sz="1900" dirty="0"/>
          </a:p>
        </p:txBody>
      </p:sp>
      <p:sp>
        <p:nvSpPr>
          <p:cNvPr id="21" name="Text 19"/>
          <p:cNvSpPr txBox="1"/>
          <p:nvPr/>
        </p:nvSpPr>
        <p:spPr>
          <a:xfrm>
            <a:off x="7827264" y="3319272"/>
            <a:ext cx="3538728" cy="310896"/>
          </a:xfrm>
          <a:prstGeom prst="rect">
            <a:avLst/>
          </a:prstGeom>
          <a:noFill/>
          <a:ln/>
        </p:spPr>
        <p:txBody>
          <a:bodyPr wrap="square" lIns="0" tIns="0" rIns="0" bIns="0" rtlCol="0" anchor="ctr"/>
          <a:lstStyle/>
          <a:p>
            <a:pPr marL="0" indent="0" algn="l">
              <a:buNone/>
            </a:pPr>
            <a:r>
              <a:rPr lang="en-US" sz="1200" b="1" dirty="0">
                <a:solidFill>
                  <a:srgbClr val="04606B"/>
                </a:solidFill>
                <a:latin typeface="Malgun Gothic" pitchFamily="34" charset="0"/>
                <a:ea typeface="Malgun Gothic" pitchFamily="34" charset="-122"/>
                <a:cs typeface="Malgun Gothic" pitchFamily="34" charset="-120"/>
              </a:rPr>
              <a:t>키워드 필터링</a:t>
            </a:r>
            <a:r>
              <a:rPr lang="en-US" sz="1200" dirty="0">
                <a:solidFill>
                  <a:srgbClr val="6B7D82"/>
                </a:solidFill>
                <a:latin typeface="Malgun Gothic" pitchFamily="34" charset="0"/>
                <a:ea typeface="Malgun Gothic" pitchFamily="34" charset="-122"/>
                <a:cs typeface="Malgun Gothic" pitchFamily="34" charset="-120"/>
              </a:rPr>
              <a:t>  →  </a:t>
            </a:r>
            <a:r>
              <a:rPr lang="en-US" sz="1200" b="1" dirty="0" err="1">
                <a:solidFill>
                  <a:srgbClr val="04606B"/>
                </a:solidFill>
                <a:latin typeface="Malgun Gothic" pitchFamily="34" charset="0"/>
                <a:ea typeface="Malgun Gothic" pitchFamily="34" charset="-122"/>
                <a:cs typeface="Malgun Gothic" pitchFamily="34" charset="-120"/>
              </a:rPr>
              <a:t>키워드</a:t>
            </a:r>
            <a:r>
              <a:rPr lang="en-US" sz="1200" b="1" dirty="0">
                <a:solidFill>
                  <a:srgbClr val="04606B"/>
                </a:solidFill>
                <a:latin typeface="Malgun Gothic" pitchFamily="34" charset="0"/>
                <a:ea typeface="Malgun Gothic" pitchFamily="34" charset="-122"/>
                <a:cs typeface="Malgun Gothic" pitchFamily="34" charset="-120"/>
              </a:rPr>
              <a:t> </a:t>
            </a:r>
            <a:r>
              <a:rPr lang="en-US" sz="1200" b="1" dirty="0" err="1">
                <a:solidFill>
                  <a:srgbClr val="04606B"/>
                </a:solidFill>
                <a:latin typeface="Malgun Gothic" pitchFamily="34" charset="0"/>
                <a:ea typeface="Malgun Gothic" pitchFamily="34" charset="-122"/>
                <a:cs typeface="Malgun Gothic" pitchFamily="34" charset="-120"/>
              </a:rPr>
              <a:t>요구선별</a:t>
            </a:r>
            <a:r>
              <a:rPr lang="en-US" sz="1200" b="1" dirty="0">
                <a:solidFill>
                  <a:srgbClr val="04606B"/>
                </a:solidFill>
                <a:latin typeface="Malgun Gothic" pitchFamily="34" charset="0"/>
                <a:ea typeface="Malgun Gothic" pitchFamily="34" charset="-122"/>
                <a:cs typeface="Malgun Gothic" pitchFamily="34" charset="-120"/>
              </a:rPr>
              <a:t> (</a:t>
            </a:r>
            <a:r>
              <a:rPr lang="ko-KR" altLang="en-US" sz="1200" b="1" dirty="0">
                <a:solidFill>
                  <a:srgbClr val="04606B"/>
                </a:solidFill>
                <a:latin typeface="Malgun Gothic" pitchFamily="34" charset="0"/>
                <a:ea typeface="Malgun Gothic" pitchFamily="34" charset="-122"/>
                <a:cs typeface="Malgun Gothic" pitchFamily="34" charset="-120"/>
              </a:rPr>
              <a:t>지수화</a:t>
            </a:r>
            <a:r>
              <a:rPr lang="en-US" altLang="ko-KR" sz="1200" b="1" dirty="0">
                <a:solidFill>
                  <a:srgbClr val="04606B"/>
                </a:solidFill>
                <a:latin typeface="Malgun Gothic" pitchFamily="34" charset="0"/>
                <a:ea typeface="Malgun Gothic" pitchFamily="34" charset="-122"/>
                <a:cs typeface="Malgun Gothic" pitchFamily="34" charset="-120"/>
              </a:rPr>
              <a:t>)</a:t>
            </a:r>
            <a:endParaRPr lang="en-US" sz="1200" dirty="0"/>
          </a:p>
        </p:txBody>
      </p:sp>
      <p:sp>
        <p:nvSpPr>
          <p:cNvPr id="22" name="Text 20"/>
          <p:cNvSpPr txBox="1"/>
          <p:nvPr/>
        </p:nvSpPr>
        <p:spPr>
          <a:xfrm>
            <a:off x="7827264" y="3666744"/>
            <a:ext cx="3538728" cy="274320"/>
          </a:xfrm>
          <a:prstGeom prst="rect">
            <a:avLst/>
          </a:prstGeom>
          <a:noFill/>
          <a:ln/>
        </p:spPr>
        <p:txBody>
          <a:bodyPr wrap="square" lIns="0" tIns="0" rIns="0" bIns="0" rtlCol="0" anchor="ctr"/>
          <a:lstStyle/>
          <a:p>
            <a:pPr marL="0" indent="0" algn="l">
              <a:buNone/>
            </a:pPr>
            <a:r>
              <a:rPr lang="en-US" sz="1050" dirty="0">
                <a:solidFill>
                  <a:srgbClr val="6B7D82"/>
                </a:solidFill>
                <a:latin typeface="Malgun Gothic" pitchFamily="34" charset="0"/>
                <a:ea typeface="Malgun Gothic" pitchFamily="34" charset="-122"/>
                <a:cs typeface="Malgun Gothic" pitchFamily="34" charset="-120"/>
              </a:rPr>
              <a:t>키워드 단일 방식</a:t>
            </a:r>
            <a:endParaRPr lang="en-US" sz="1050" dirty="0"/>
          </a:p>
        </p:txBody>
      </p:sp>
      <p:sp>
        <p:nvSpPr>
          <p:cNvPr id="23" name="Shape 21"/>
          <p:cNvSpPr/>
          <p:nvPr/>
        </p:nvSpPr>
        <p:spPr>
          <a:xfrm>
            <a:off x="3246120" y="4315968"/>
            <a:ext cx="4087368" cy="1481328"/>
          </a:xfrm>
          <a:prstGeom prst="roundRect">
            <a:avLst>
              <a:gd name="adj" fmla="val 4938"/>
            </a:avLst>
          </a:prstGeom>
          <a:solidFill>
            <a:srgbClr val="FBF2F0"/>
          </a:solidFill>
          <a:ln w="15875">
            <a:solidFill>
              <a:srgbClr val="B85042"/>
            </a:solidFill>
            <a:prstDash val="solid"/>
          </a:ln>
        </p:spPr>
      </p:sp>
      <p:sp>
        <p:nvSpPr>
          <p:cNvPr id="24" name="Text 22"/>
          <p:cNvSpPr txBox="1"/>
          <p:nvPr/>
        </p:nvSpPr>
        <p:spPr>
          <a:xfrm>
            <a:off x="3520440" y="4517136"/>
            <a:ext cx="3538728" cy="347472"/>
          </a:xfrm>
          <a:prstGeom prst="rect">
            <a:avLst/>
          </a:prstGeom>
          <a:noFill/>
          <a:ln/>
        </p:spPr>
        <p:txBody>
          <a:bodyPr wrap="square" lIns="0" tIns="0" rIns="0" bIns="0" rtlCol="0" anchor="ctr"/>
          <a:lstStyle/>
          <a:p>
            <a:pPr marL="0" indent="0" algn="l">
              <a:buNone/>
            </a:pPr>
            <a:r>
              <a:rPr lang="en-US" sz="1900" b="1" dirty="0">
                <a:solidFill>
                  <a:srgbClr val="FF0000"/>
                </a:solidFill>
                <a:latin typeface="Malgun Gothic" pitchFamily="34" charset="0"/>
                <a:ea typeface="Malgun Gothic" pitchFamily="34" charset="-122"/>
                <a:cs typeface="Malgun Gothic" pitchFamily="34" charset="-120"/>
              </a:rPr>
              <a:t>요구도 </a:t>
            </a:r>
            <a:r>
              <a:rPr lang="en-US" sz="1900" b="1" dirty="0" err="1">
                <a:solidFill>
                  <a:srgbClr val="FF0000"/>
                </a:solidFill>
                <a:latin typeface="Malgun Gothic" pitchFamily="34" charset="0"/>
                <a:ea typeface="Malgun Gothic" pitchFamily="34" charset="-122"/>
                <a:cs typeface="Malgun Gothic" pitchFamily="34" charset="-120"/>
              </a:rPr>
              <a:t>지수</a:t>
            </a:r>
            <a:r>
              <a:rPr lang="en-US" sz="1900" b="1" dirty="0">
                <a:solidFill>
                  <a:srgbClr val="FF0000"/>
                </a:solidFill>
                <a:latin typeface="Malgun Gothic" pitchFamily="34" charset="0"/>
                <a:ea typeface="Malgun Gothic" pitchFamily="34" charset="-122"/>
                <a:cs typeface="Malgun Gothic" pitchFamily="34" charset="-120"/>
              </a:rPr>
              <a:t> 3 : </a:t>
            </a:r>
            <a:r>
              <a:rPr lang="ko-KR" altLang="en-US" sz="1900" b="1" dirty="0">
                <a:solidFill>
                  <a:srgbClr val="FF0000"/>
                </a:solidFill>
                <a:latin typeface="Malgun Gothic" pitchFamily="34" charset="0"/>
                <a:ea typeface="Malgun Gothic" pitchFamily="34" charset="-122"/>
                <a:cs typeface="Malgun Gothic" pitchFamily="34" charset="-120"/>
              </a:rPr>
              <a:t>현재</a:t>
            </a:r>
            <a:endParaRPr lang="en-US" sz="1900" b="1" dirty="0">
              <a:solidFill>
                <a:srgbClr val="FF0000"/>
              </a:solidFill>
            </a:endParaRPr>
          </a:p>
        </p:txBody>
      </p:sp>
      <p:sp>
        <p:nvSpPr>
          <p:cNvPr id="25" name="Text 23"/>
          <p:cNvSpPr txBox="1"/>
          <p:nvPr/>
        </p:nvSpPr>
        <p:spPr>
          <a:xfrm>
            <a:off x="3520440" y="4937760"/>
            <a:ext cx="3538728" cy="310896"/>
          </a:xfrm>
          <a:prstGeom prst="rect">
            <a:avLst/>
          </a:prstGeom>
          <a:noFill/>
          <a:ln/>
        </p:spPr>
        <p:txBody>
          <a:bodyPr wrap="square" lIns="0" tIns="0" rIns="0" bIns="0" rtlCol="0" anchor="ctr"/>
          <a:lstStyle/>
          <a:p>
            <a:pPr marL="0" indent="0" algn="l">
              <a:buNone/>
            </a:pPr>
            <a:r>
              <a:rPr lang="en-US" sz="1200" b="1" dirty="0">
                <a:solidFill>
                  <a:srgbClr val="8E3A2E"/>
                </a:solidFill>
                <a:latin typeface="Malgun Gothic" pitchFamily="34" charset="0"/>
                <a:ea typeface="Malgun Gothic" pitchFamily="34" charset="-122"/>
                <a:cs typeface="Malgun Gothic" pitchFamily="34" charset="-120"/>
              </a:rPr>
              <a:t>LLM </a:t>
            </a:r>
            <a:r>
              <a:rPr lang="en-US" sz="1200" b="1" dirty="0" err="1">
                <a:solidFill>
                  <a:srgbClr val="8E3A2E"/>
                </a:solidFill>
                <a:latin typeface="Malgun Gothic" pitchFamily="34" charset="0"/>
                <a:ea typeface="Malgun Gothic" pitchFamily="34" charset="-122"/>
                <a:cs typeface="Malgun Gothic" pitchFamily="34" charset="-120"/>
              </a:rPr>
              <a:t>필터링</a:t>
            </a:r>
            <a:r>
              <a:rPr lang="en-US" sz="1200" b="1" dirty="0">
                <a:solidFill>
                  <a:srgbClr val="8E3A2E"/>
                </a:solidFill>
                <a:latin typeface="Malgun Gothic" pitchFamily="34" charset="0"/>
                <a:ea typeface="Malgun Gothic" pitchFamily="34" charset="-122"/>
                <a:cs typeface="Malgun Gothic" pitchFamily="34" charset="-120"/>
              </a:rPr>
              <a:t>(13</a:t>
            </a:r>
            <a:r>
              <a:rPr lang="ko-KR" altLang="en-US" sz="1200" b="1" dirty="0" err="1">
                <a:solidFill>
                  <a:srgbClr val="8E3A2E"/>
                </a:solidFill>
                <a:latin typeface="Malgun Gothic" pitchFamily="34" charset="0"/>
                <a:ea typeface="Malgun Gothic" pitchFamily="34" charset="-122"/>
                <a:cs typeface="Malgun Gothic" pitchFamily="34" charset="-120"/>
              </a:rPr>
              <a:t>만건</a:t>
            </a:r>
            <a:r>
              <a:rPr lang="en-US" altLang="ko-KR" sz="1200" b="1" dirty="0">
                <a:solidFill>
                  <a:srgbClr val="8E3A2E"/>
                </a:solidFill>
                <a:latin typeface="Malgun Gothic" pitchFamily="34" charset="0"/>
                <a:ea typeface="Malgun Gothic" pitchFamily="34" charset="-122"/>
                <a:cs typeface="Malgun Gothic" pitchFamily="34" charset="-120"/>
              </a:rPr>
              <a:t>)</a:t>
            </a:r>
            <a:r>
              <a:rPr lang="en-US" sz="1200" dirty="0">
                <a:solidFill>
                  <a:srgbClr val="6B7D82"/>
                </a:solidFill>
                <a:latin typeface="Malgun Gothic" pitchFamily="34" charset="0"/>
                <a:ea typeface="Malgun Gothic" pitchFamily="34" charset="-122"/>
                <a:cs typeface="Malgun Gothic" pitchFamily="34" charset="-120"/>
              </a:rPr>
              <a:t>  → </a:t>
            </a:r>
            <a:r>
              <a:rPr lang="en-US" altLang="ko-KR" sz="1200" b="1" dirty="0">
                <a:solidFill>
                  <a:srgbClr val="8E3A2E"/>
                </a:solidFill>
                <a:latin typeface="Malgun Gothic" pitchFamily="34" charset="0"/>
                <a:ea typeface="Malgun Gothic" pitchFamily="34" charset="-122"/>
                <a:cs typeface="Malgun Gothic" pitchFamily="34" charset="-120"/>
              </a:rPr>
              <a:t>LLM </a:t>
            </a:r>
            <a:r>
              <a:rPr lang="en-US" altLang="ko-KR" sz="1200" b="1" dirty="0" err="1">
                <a:solidFill>
                  <a:srgbClr val="8E3A2E"/>
                </a:solidFill>
                <a:latin typeface="Malgun Gothic" pitchFamily="34" charset="0"/>
                <a:ea typeface="Malgun Gothic" pitchFamily="34" charset="-122"/>
                <a:cs typeface="Malgun Gothic" pitchFamily="34" charset="-120"/>
              </a:rPr>
              <a:t>요구</a:t>
            </a:r>
            <a:r>
              <a:rPr lang="ko-KR" altLang="en-US" sz="1200" b="1" dirty="0">
                <a:solidFill>
                  <a:srgbClr val="8E3A2E"/>
                </a:solidFill>
                <a:latin typeface="Malgun Gothic" pitchFamily="34" charset="0"/>
                <a:ea typeface="Malgun Gothic" pitchFamily="34" charset="-122"/>
                <a:cs typeface="Malgun Gothic" pitchFamily="34" charset="-120"/>
              </a:rPr>
              <a:t>선별 </a:t>
            </a:r>
            <a:r>
              <a:rPr lang="en-US" altLang="ko-KR" sz="1200" b="1" dirty="0">
                <a:solidFill>
                  <a:srgbClr val="8E3A2E"/>
                </a:solidFill>
                <a:latin typeface="Malgun Gothic" pitchFamily="34" charset="0"/>
                <a:ea typeface="Malgun Gothic" pitchFamily="34" charset="-122"/>
                <a:cs typeface="Malgun Gothic" pitchFamily="34" charset="-120"/>
              </a:rPr>
              <a:t>(</a:t>
            </a:r>
            <a:r>
              <a:rPr lang="ko-KR" altLang="en-US" sz="1200" b="1" dirty="0">
                <a:solidFill>
                  <a:srgbClr val="8E3A2E"/>
                </a:solidFill>
                <a:latin typeface="Malgun Gothic" pitchFamily="34" charset="0"/>
                <a:ea typeface="Malgun Gothic" pitchFamily="34" charset="-122"/>
                <a:cs typeface="Malgun Gothic" pitchFamily="34" charset="-120"/>
              </a:rPr>
              <a:t>지수화</a:t>
            </a:r>
            <a:r>
              <a:rPr lang="en-US" altLang="ko-KR" sz="1200" b="1" dirty="0">
                <a:solidFill>
                  <a:srgbClr val="8E3A2E"/>
                </a:solidFill>
                <a:latin typeface="Malgun Gothic" pitchFamily="34" charset="0"/>
                <a:ea typeface="Malgun Gothic" pitchFamily="34" charset="-122"/>
                <a:cs typeface="Malgun Gothic" pitchFamily="34" charset="-120"/>
              </a:rPr>
              <a:t>)</a:t>
            </a:r>
            <a:endParaRPr lang="en-US" sz="1200" dirty="0"/>
          </a:p>
        </p:txBody>
      </p:sp>
      <p:sp>
        <p:nvSpPr>
          <p:cNvPr id="26" name="Text 24"/>
          <p:cNvSpPr txBox="1"/>
          <p:nvPr/>
        </p:nvSpPr>
        <p:spPr>
          <a:xfrm>
            <a:off x="3520440" y="5285232"/>
            <a:ext cx="3538728" cy="274320"/>
          </a:xfrm>
          <a:prstGeom prst="rect">
            <a:avLst/>
          </a:prstGeom>
          <a:noFill/>
          <a:ln/>
        </p:spPr>
        <p:txBody>
          <a:bodyPr wrap="square" lIns="0" tIns="0" rIns="0" bIns="0" rtlCol="0" anchor="ctr"/>
          <a:lstStyle/>
          <a:p>
            <a:pPr marL="0" indent="0" algn="l">
              <a:buNone/>
            </a:pPr>
            <a:r>
              <a:rPr lang="en-US" sz="1050" dirty="0">
                <a:solidFill>
                  <a:srgbClr val="6B7D82"/>
                </a:solidFill>
                <a:latin typeface="Malgun Gothic" pitchFamily="34" charset="0"/>
                <a:ea typeface="Malgun Gothic" pitchFamily="34" charset="-122"/>
                <a:cs typeface="Malgun Gothic" pitchFamily="34" charset="-120"/>
              </a:rPr>
              <a:t>LLM 단일 방식</a:t>
            </a:r>
            <a:endParaRPr lang="en-US" sz="1050" dirty="0"/>
          </a:p>
        </p:txBody>
      </p:sp>
      <p:sp>
        <p:nvSpPr>
          <p:cNvPr id="27" name="Shape 25"/>
          <p:cNvSpPr/>
          <p:nvPr/>
        </p:nvSpPr>
        <p:spPr>
          <a:xfrm>
            <a:off x="7552944" y="4315968"/>
            <a:ext cx="4087368" cy="1481328"/>
          </a:xfrm>
          <a:prstGeom prst="roundRect">
            <a:avLst>
              <a:gd name="adj" fmla="val 4938"/>
            </a:avLst>
          </a:prstGeom>
          <a:solidFill>
            <a:srgbClr val="FBFCFC"/>
          </a:solidFill>
          <a:ln w="15875">
            <a:solidFill>
              <a:srgbClr val="D5DFE2"/>
            </a:solidFill>
            <a:prstDash val="solid"/>
          </a:ln>
        </p:spPr>
      </p:sp>
      <p:sp>
        <p:nvSpPr>
          <p:cNvPr id="28" name="Text 26"/>
          <p:cNvSpPr txBox="1"/>
          <p:nvPr/>
        </p:nvSpPr>
        <p:spPr>
          <a:xfrm>
            <a:off x="7827264" y="4517136"/>
            <a:ext cx="3538728" cy="347472"/>
          </a:xfrm>
          <a:prstGeom prst="rect">
            <a:avLst/>
          </a:prstGeom>
          <a:noFill/>
          <a:ln/>
        </p:spPr>
        <p:txBody>
          <a:bodyPr wrap="square" lIns="0" tIns="0" rIns="0" bIns="0" rtlCol="0" anchor="ctr"/>
          <a:lstStyle/>
          <a:p>
            <a:pPr marL="0" indent="0" algn="l">
              <a:buNone/>
            </a:pPr>
            <a:r>
              <a:rPr lang="en-US" sz="1900" b="1" dirty="0">
                <a:solidFill>
                  <a:srgbClr val="FF0000"/>
                </a:solidFill>
                <a:latin typeface="Malgun Gothic" pitchFamily="34" charset="0"/>
                <a:ea typeface="Malgun Gothic" pitchFamily="34" charset="-122"/>
                <a:cs typeface="Malgun Gothic" pitchFamily="34" charset="-120"/>
              </a:rPr>
              <a:t>요구도 </a:t>
            </a:r>
            <a:r>
              <a:rPr lang="en-US" sz="1900" b="1" dirty="0" err="1">
                <a:solidFill>
                  <a:srgbClr val="FF0000"/>
                </a:solidFill>
                <a:latin typeface="Malgun Gothic" pitchFamily="34" charset="0"/>
                <a:ea typeface="Malgun Gothic" pitchFamily="34" charset="-122"/>
                <a:cs typeface="Malgun Gothic" pitchFamily="34" charset="-120"/>
              </a:rPr>
              <a:t>지수</a:t>
            </a:r>
            <a:r>
              <a:rPr lang="en-US" sz="1900" b="1" dirty="0">
                <a:solidFill>
                  <a:srgbClr val="FF0000"/>
                </a:solidFill>
                <a:latin typeface="Malgun Gothic" pitchFamily="34" charset="0"/>
                <a:ea typeface="Malgun Gothic" pitchFamily="34" charset="-122"/>
                <a:cs typeface="Malgun Gothic" pitchFamily="34" charset="-120"/>
              </a:rPr>
              <a:t> 4 : </a:t>
            </a:r>
            <a:r>
              <a:rPr lang="ko-KR" altLang="en-US" sz="1900" b="1" dirty="0">
                <a:solidFill>
                  <a:srgbClr val="FF0000"/>
                </a:solidFill>
                <a:latin typeface="Malgun Gothic" pitchFamily="34" charset="0"/>
                <a:ea typeface="Malgun Gothic" pitchFamily="34" charset="-122"/>
                <a:cs typeface="Malgun Gothic" pitchFamily="34" charset="-120"/>
              </a:rPr>
              <a:t>현재</a:t>
            </a:r>
            <a:r>
              <a:rPr lang="en-US" altLang="ko-KR" sz="1900" b="1" dirty="0">
                <a:solidFill>
                  <a:srgbClr val="FF0000"/>
                </a:solidFill>
                <a:latin typeface="Malgun Gothic" pitchFamily="34" charset="0"/>
                <a:ea typeface="Malgun Gothic" pitchFamily="34" charset="-122"/>
                <a:cs typeface="Malgun Gothic" pitchFamily="34" charset="-120"/>
              </a:rPr>
              <a:t>2</a:t>
            </a:r>
            <a:endParaRPr lang="en-US" sz="1900" dirty="0">
              <a:solidFill>
                <a:srgbClr val="FF0000"/>
              </a:solidFill>
            </a:endParaRPr>
          </a:p>
        </p:txBody>
      </p:sp>
      <p:sp>
        <p:nvSpPr>
          <p:cNvPr id="29" name="Text 27"/>
          <p:cNvSpPr txBox="1"/>
          <p:nvPr/>
        </p:nvSpPr>
        <p:spPr>
          <a:xfrm>
            <a:off x="7827264" y="4937760"/>
            <a:ext cx="3538728" cy="310896"/>
          </a:xfrm>
          <a:prstGeom prst="rect">
            <a:avLst/>
          </a:prstGeom>
          <a:noFill/>
          <a:ln/>
        </p:spPr>
        <p:txBody>
          <a:bodyPr wrap="square" lIns="0" tIns="0" rIns="0" bIns="0" rtlCol="0" anchor="ctr"/>
          <a:lstStyle/>
          <a:p>
            <a:pPr marL="0" indent="0" algn="l">
              <a:buNone/>
            </a:pPr>
            <a:r>
              <a:rPr lang="en-US" sz="1200" b="1" dirty="0">
                <a:solidFill>
                  <a:srgbClr val="8E3A2E"/>
                </a:solidFill>
                <a:latin typeface="Malgun Gothic" pitchFamily="34" charset="0"/>
                <a:ea typeface="Malgun Gothic" pitchFamily="34" charset="-122"/>
                <a:cs typeface="Malgun Gothic" pitchFamily="34" charset="-120"/>
              </a:rPr>
              <a:t>LLM </a:t>
            </a:r>
            <a:r>
              <a:rPr lang="en-US" sz="1200" b="1" dirty="0" err="1">
                <a:solidFill>
                  <a:srgbClr val="8E3A2E"/>
                </a:solidFill>
                <a:latin typeface="Malgun Gothic" pitchFamily="34" charset="0"/>
                <a:ea typeface="Malgun Gothic" pitchFamily="34" charset="-122"/>
                <a:cs typeface="Malgun Gothic" pitchFamily="34" charset="-120"/>
              </a:rPr>
              <a:t>필터링</a:t>
            </a:r>
            <a:r>
              <a:rPr lang="en-US" sz="1200" b="1" dirty="0">
                <a:solidFill>
                  <a:srgbClr val="8E3A2E"/>
                </a:solidFill>
                <a:latin typeface="Malgun Gothic" pitchFamily="34" charset="0"/>
                <a:ea typeface="Malgun Gothic" pitchFamily="34" charset="-122"/>
                <a:cs typeface="Malgun Gothic" pitchFamily="34" charset="-120"/>
              </a:rPr>
              <a:t>(13</a:t>
            </a:r>
            <a:r>
              <a:rPr lang="ko-KR" altLang="en-US" sz="1200" b="1" dirty="0" err="1">
                <a:solidFill>
                  <a:srgbClr val="8E3A2E"/>
                </a:solidFill>
                <a:latin typeface="Malgun Gothic" pitchFamily="34" charset="0"/>
                <a:ea typeface="Malgun Gothic" pitchFamily="34" charset="-122"/>
                <a:cs typeface="Malgun Gothic" pitchFamily="34" charset="-120"/>
              </a:rPr>
              <a:t>만건</a:t>
            </a:r>
            <a:r>
              <a:rPr lang="en-US" altLang="ko-KR" sz="1200" b="1" dirty="0">
                <a:solidFill>
                  <a:srgbClr val="8E3A2E"/>
                </a:solidFill>
                <a:latin typeface="Malgun Gothic" pitchFamily="34" charset="0"/>
                <a:ea typeface="Malgun Gothic" pitchFamily="34" charset="-122"/>
                <a:cs typeface="Malgun Gothic" pitchFamily="34" charset="-120"/>
              </a:rPr>
              <a:t>)</a:t>
            </a:r>
            <a:r>
              <a:rPr lang="en-US" sz="1200" dirty="0">
                <a:solidFill>
                  <a:srgbClr val="6B7D82"/>
                </a:solidFill>
                <a:latin typeface="Malgun Gothic" pitchFamily="34" charset="0"/>
                <a:ea typeface="Malgun Gothic" pitchFamily="34" charset="-122"/>
                <a:cs typeface="Malgun Gothic" pitchFamily="34" charset="-120"/>
              </a:rPr>
              <a:t>  → </a:t>
            </a:r>
            <a:r>
              <a:rPr lang="en-US" altLang="ko-KR" sz="1200" b="1" dirty="0" err="1">
                <a:solidFill>
                  <a:srgbClr val="04606B"/>
                </a:solidFill>
                <a:latin typeface="Malgun Gothic" pitchFamily="34" charset="0"/>
                <a:ea typeface="Malgun Gothic" pitchFamily="34" charset="-122"/>
                <a:cs typeface="Malgun Gothic" pitchFamily="34" charset="-120"/>
              </a:rPr>
              <a:t>키워드</a:t>
            </a:r>
            <a:r>
              <a:rPr lang="en-US" altLang="ko-KR" sz="1200" b="1" dirty="0">
                <a:solidFill>
                  <a:srgbClr val="04606B"/>
                </a:solidFill>
                <a:latin typeface="Malgun Gothic" pitchFamily="34" charset="0"/>
                <a:ea typeface="Malgun Gothic" pitchFamily="34" charset="-122"/>
                <a:cs typeface="Malgun Gothic" pitchFamily="34" charset="-120"/>
              </a:rPr>
              <a:t> </a:t>
            </a:r>
            <a:r>
              <a:rPr lang="en-US" altLang="ko-KR" sz="1200" b="1" dirty="0" err="1">
                <a:solidFill>
                  <a:srgbClr val="04606B"/>
                </a:solidFill>
                <a:latin typeface="Malgun Gothic" pitchFamily="34" charset="0"/>
                <a:ea typeface="Malgun Gothic" pitchFamily="34" charset="-122"/>
                <a:cs typeface="Malgun Gothic" pitchFamily="34" charset="-120"/>
              </a:rPr>
              <a:t>요구선별</a:t>
            </a:r>
            <a:r>
              <a:rPr lang="en-US" altLang="ko-KR" sz="1200" b="1" dirty="0">
                <a:solidFill>
                  <a:srgbClr val="04606B"/>
                </a:solidFill>
                <a:latin typeface="Malgun Gothic" pitchFamily="34" charset="0"/>
                <a:ea typeface="Malgun Gothic" pitchFamily="34" charset="-122"/>
                <a:cs typeface="Malgun Gothic" pitchFamily="34" charset="-120"/>
              </a:rPr>
              <a:t> (</a:t>
            </a:r>
            <a:r>
              <a:rPr lang="ko-KR" altLang="en-US" sz="1200" b="1" dirty="0">
                <a:solidFill>
                  <a:srgbClr val="04606B"/>
                </a:solidFill>
                <a:latin typeface="Malgun Gothic" pitchFamily="34" charset="0"/>
                <a:ea typeface="Malgun Gothic" pitchFamily="34" charset="-122"/>
                <a:cs typeface="Malgun Gothic" pitchFamily="34" charset="-120"/>
              </a:rPr>
              <a:t>지수화</a:t>
            </a:r>
            <a:r>
              <a:rPr lang="en-US" altLang="ko-KR" sz="1200" b="1" dirty="0">
                <a:solidFill>
                  <a:srgbClr val="04606B"/>
                </a:solidFill>
                <a:latin typeface="Malgun Gothic" pitchFamily="34" charset="0"/>
                <a:ea typeface="Malgun Gothic" pitchFamily="34" charset="-122"/>
                <a:cs typeface="Malgun Gothic" pitchFamily="34" charset="-120"/>
              </a:rPr>
              <a:t>)</a:t>
            </a:r>
            <a:endParaRPr lang="en-US" sz="1200" dirty="0"/>
          </a:p>
        </p:txBody>
      </p:sp>
      <p:sp>
        <p:nvSpPr>
          <p:cNvPr id="30" name="Text 28"/>
          <p:cNvSpPr txBox="1"/>
          <p:nvPr/>
        </p:nvSpPr>
        <p:spPr>
          <a:xfrm>
            <a:off x="7827264" y="5285232"/>
            <a:ext cx="3538728" cy="274320"/>
          </a:xfrm>
          <a:prstGeom prst="rect">
            <a:avLst/>
          </a:prstGeom>
          <a:noFill/>
          <a:ln/>
        </p:spPr>
        <p:txBody>
          <a:bodyPr wrap="square" lIns="0" tIns="0" rIns="0" bIns="0" rtlCol="0" anchor="ctr"/>
          <a:lstStyle/>
          <a:p>
            <a:pPr marL="0" indent="0" algn="l">
              <a:buNone/>
            </a:pPr>
            <a:r>
              <a:rPr lang="en-US" sz="1050" dirty="0">
                <a:solidFill>
                  <a:srgbClr val="6B7D82"/>
                </a:solidFill>
                <a:latin typeface="Malgun Gothic" pitchFamily="34" charset="0"/>
                <a:ea typeface="Malgun Gothic" pitchFamily="34" charset="-122"/>
                <a:cs typeface="Malgun Gothic" pitchFamily="34" charset="-120"/>
              </a:rPr>
              <a:t>혼합 방식</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56032"/>
            <a:ext cx="8686800" cy="438912"/>
          </a:xfrm>
          <a:prstGeom prst="rect">
            <a:avLst/>
          </a:prstGeom>
          <a:noFill/>
          <a:ln/>
        </p:spPr>
        <p:txBody>
          <a:bodyPr wrap="square" lIns="0" tIns="0" rIns="0" bIns="0" rtlCol="0" anchor="ctr"/>
          <a:lstStyle/>
          <a:p>
            <a:pPr marL="0" indent="0" algn="l">
              <a:buNone/>
            </a:pPr>
            <a:r>
              <a:rPr lang="en-US" sz="2700" b="1" dirty="0">
                <a:solidFill>
                  <a:srgbClr val="14343B"/>
                </a:solidFill>
                <a:latin typeface="Malgun Gothic" pitchFamily="34" charset="0"/>
                <a:ea typeface="Malgun Gothic" pitchFamily="34" charset="-122"/>
                <a:cs typeface="Malgun Gothic" pitchFamily="34" charset="-120"/>
              </a:rPr>
              <a:t>정리가 필요한 부분</a:t>
            </a:r>
            <a:endParaRPr lang="en-US" sz="2700" dirty="0"/>
          </a:p>
        </p:txBody>
      </p:sp>
      <p:sp>
        <p:nvSpPr>
          <p:cNvPr id="3" name="Text 1"/>
          <p:cNvSpPr txBox="1"/>
          <p:nvPr/>
        </p:nvSpPr>
        <p:spPr>
          <a:xfrm>
            <a:off x="640080" y="713232"/>
            <a:ext cx="10881360" cy="274320"/>
          </a:xfrm>
          <a:prstGeom prst="rect">
            <a:avLst/>
          </a:prstGeom>
          <a:noFill/>
          <a:ln/>
        </p:spPr>
        <p:txBody>
          <a:bodyPr wrap="square" lIns="0" tIns="0" rIns="0" bIns="0" rtlCol="0" anchor="ctr"/>
          <a:lstStyle/>
          <a:p>
            <a:pPr marL="0" indent="0" algn="l">
              <a:buNone/>
            </a:pPr>
            <a:r>
              <a:rPr lang="en-US" sz="1300" dirty="0">
                <a:solidFill>
                  <a:srgbClr val="6B7D82"/>
                </a:solidFill>
                <a:latin typeface="Malgun Gothic" pitchFamily="34" charset="0"/>
                <a:ea typeface="Malgun Gothic" pitchFamily="34" charset="-122"/>
                <a:cs typeface="Malgun Gothic" pitchFamily="34" charset="-120"/>
              </a:rPr>
              <a:t>지수 확정 전에 합의가 필요한 항목</a:t>
            </a:r>
            <a:endParaRPr lang="en-US" sz="1300" dirty="0"/>
          </a:p>
        </p:txBody>
      </p:sp>
      <p:sp>
        <p:nvSpPr>
          <p:cNvPr id="4" name="Shape 2"/>
          <p:cNvSpPr/>
          <p:nvPr/>
        </p:nvSpPr>
        <p:spPr>
          <a:xfrm>
            <a:off x="640080" y="1600200"/>
            <a:ext cx="10908792" cy="868680"/>
          </a:xfrm>
          <a:prstGeom prst="roundRect">
            <a:avLst>
              <a:gd name="adj" fmla="val 9474"/>
            </a:avLst>
          </a:prstGeom>
          <a:solidFill>
            <a:srgbClr val="F4F7F8"/>
          </a:solidFill>
          <a:ln/>
        </p:spPr>
      </p:sp>
      <p:sp>
        <p:nvSpPr>
          <p:cNvPr id="5" name="Shape 3"/>
          <p:cNvSpPr/>
          <p:nvPr/>
        </p:nvSpPr>
        <p:spPr>
          <a:xfrm>
            <a:off x="914400" y="1815084"/>
            <a:ext cx="438912" cy="438912"/>
          </a:xfrm>
          <a:prstGeom prst="roundRect">
            <a:avLst>
              <a:gd name="adj" fmla="val 50000"/>
            </a:avLst>
          </a:prstGeom>
          <a:solidFill>
            <a:srgbClr val="028090"/>
          </a:solidFill>
          <a:ln/>
        </p:spPr>
      </p:sp>
      <p:sp>
        <p:nvSpPr>
          <p:cNvPr id="6" name="Text 4"/>
          <p:cNvSpPr txBox="1"/>
          <p:nvPr/>
        </p:nvSpPr>
        <p:spPr>
          <a:xfrm>
            <a:off x="914400" y="18150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01</a:t>
            </a:r>
            <a:endParaRPr lang="en-US" sz="1200" dirty="0"/>
          </a:p>
        </p:txBody>
      </p:sp>
      <p:sp>
        <p:nvSpPr>
          <p:cNvPr id="7" name="Text 5"/>
          <p:cNvSpPr txBox="1"/>
          <p:nvPr/>
        </p:nvSpPr>
        <p:spPr>
          <a:xfrm>
            <a:off x="1536192" y="1600200"/>
            <a:ext cx="2834640" cy="868680"/>
          </a:xfrm>
          <a:prstGeom prst="rect">
            <a:avLst/>
          </a:prstGeom>
          <a:noFill/>
          <a:ln/>
        </p:spPr>
        <p:txBody>
          <a:bodyPr wrap="square" lIns="0" tIns="0" rIns="0" bIns="0" rtlCol="0" anchor="ctr"/>
          <a:lstStyle/>
          <a:p>
            <a:pPr marL="0" indent="0" algn="l">
              <a:buNone/>
            </a:pPr>
            <a:r>
              <a:rPr lang="en-US" sz="1500" b="1" dirty="0">
                <a:solidFill>
                  <a:srgbClr val="14343B"/>
                </a:solidFill>
                <a:latin typeface="Malgun Gothic" pitchFamily="34" charset="0"/>
                <a:ea typeface="Malgun Gothic" pitchFamily="34" charset="-122"/>
                <a:cs typeface="Malgun Gothic" pitchFamily="34" charset="-120"/>
              </a:rPr>
              <a:t>기사 제외 기준 통일</a:t>
            </a:r>
            <a:endParaRPr lang="en-US" sz="1500" dirty="0"/>
          </a:p>
        </p:txBody>
      </p:sp>
      <p:sp>
        <p:nvSpPr>
          <p:cNvPr id="8" name="Text 6"/>
          <p:cNvSpPr txBox="1"/>
          <p:nvPr/>
        </p:nvSpPr>
        <p:spPr>
          <a:xfrm>
            <a:off x="4526280" y="1600200"/>
            <a:ext cx="6748272" cy="868680"/>
          </a:xfrm>
          <a:prstGeom prst="rect">
            <a:avLst/>
          </a:prstGeom>
          <a:noFill/>
          <a:ln/>
        </p:spPr>
        <p:txBody>
          <a:bodyPr wrap="square" lIns="0" tIns="0" rIns="0" bIns="0" rtlCol="0" anchor="ctr"/>
          <a:lstStyle/>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LLM, </a:t>
            </a:r>
            <a:r>
              <a:rPr lang="en-US" sz="1150" dirty="0" err="1">
                <a:solidFill>
                  <a:srgbClr val="4A6670"/>
                </a:solidFill>
                <a:latin typeface="Malgun Gothic" pitchFamily="34" charset="0"/>
                <a:ea typeface="Malgun Gothic" pitchFamily="34" charset="-122"/>
                <a:cs typeface="Malgun Gothic" pitchFamily="34" charset="-120"/>
              </a:rPr>
              <a:t>키워드</a:t>
            </a:r>
            <a:r>
              <a:rPr lang="en-US" sz="1150" dirty="0">
                <a:solidFill>
                  <a:srgbClr val="4A6670"/>
                </a:solidFill>
                <a:latin typeface="Malgun Gothic" pitchFamily="34" charset="0"/>
                <a:ea typeface="Malgun Gothic" pitchFamily="34" charset="-122"/>
                <a:cs typeface="Malgun Gothic" pitchFamily="34" charset="-120"/>
              </a:rPr>
              <a:t> 모두 대기환경과 무관한 </a:t>
            </a:r>
            <a:r>
              <a:rPr lang="en-US" sz="1150" dirty="0" err="1">
                <a:solidFill>
                  <a:srgbClr val="4A6670"/>
                </a:solidFill>
                <a:latin typeface="Malgun Gothic" pitchFamily="34" charset="0"/>
                <a:ea typeface="Malgun Gothic" pitchFamily="34" charset="-122"/>
                <a:cs typeface="Malgun Gothic" pitchFamily="34" charset="-120"/>
              </a:rPr>
              <a:t>기사를</a:t>
            </a:r>
            <a:r>
              <a:rPr lang="en-US" sz="1150" dirty="0">
                <a:solidFill>
                  <a:srgbClr val="4A6670"/>
                </a:solidFill>
                <a:latin typeface="Malgun Gothic" pitchFamily="34" charset="0"/>
                <a:ea typeface="Malgun Gothic" pitchFamily="34" charset="-122"/>
                <a:cs typeface="Malgun Gothic" pitchFamily="34" charset="-120"/>
              </a:rPr>
              <a:t> </a:t>
            </a:r>
            <a:r>
              <a:rPr lang="en-US" sz="1150" dirty="0" err="1">
                <a:solidFill>
                  <a:srgbClr val="4A6670"/>
                </a:solidFill>
                <a:latin typeface="Malgun Gothic" pitchFamily="34" charset="0"/>
                <a:ea typeface="Malgun Gothic" pitchFamily="34" charset="-122"/>
                <a:cs typeface="Malgun Gothic" pitchFamily="34" charset="-120"/>
              </a:rPr>
              <a:t>제거하</a:t>
            </a:r>
            <a:r>
              <a:rPr lang="ko-KR" altLang="en-US" sz="1150" dirty="0">
                <a:solidFill>
                  <a:srgbClr val="4A6670"/>
                </a:solidFill>
                <a:latin typeface="Malgun Gothic" pitchFamily="34" charset="0"/>
                <a:ea typeface="Malgun Gothic" pitchFamily="34" charset="-122"/>
                <a:cs typeface="Malgun Gothic" pitchFamily="34" charset="-120"/>
              </a:rPr>
              <a:t>것에 활용중임 </a:t>
            </a:r>
            <a:r>
              <a:rPr lang="en-US" altLang="ko-KR" sz="1150" dirty="0">
                <a:solidFill>
                  <a:srgbClr val="4A6670"/>
                </a:solidFill>
                <a:latin typeface="Malgun Gothic" pitchFamily="34" charset="0"/>
                <a:ea typeface="Malgun Gothic" pitchFamily="34" charset="-122"/>
                <a:cs typeface="Malgun Gothic" pitchFamily="34" charset="-120"/>
              </a:rPr>
              <a:t>(</a:t>
            </a:r>
            <a:r>
              <a:rPr lang="ko-KR" altLang="en-US" sz="1150" dirty="0">
                <a:solidFill>
                  <a:srgbClr val="4A6670"/>
                </a:solidFill>
                <a:latin typeface="Malgun Gothic" pitchFamily="34" charset="0"/>
                <a:ea typeface="Malgun Gothic" pitchFamily="34" charset="-122"/>
                <a:cs typeface="Malgun Gothic" pitchFamily="34" charset="-120"/>
              </a:rPr>
              <a:t>관심도</a:t>
            </a:r>
            <a:r>
              <a:rPr lang="en-US" altLang="ko-KR" sz="1150" dirty="0">
                <a:solidFill>
                  <a:srgbClr val="4A6670"/>
                </a:solidFill>
                <a:latin typeface="Malgun Gothic" pitchFamily="34" charset="0"/>
                <a:ea typeface="Malgun Gothic" pitchFamily="34" charset="-122"/>
                <a:cs typeface="Malgun Gothic" pitchFamily="34" charset="-120"/>
              </a:rPr>
              <a:t>, </a:t>
            </a:r>
            <a:r>
              <a:rPr lang="ko-KR" altLang="en-US" sz="1150" dirty="0">
                <a:solidFill>
                  <a:srgbClr val="4A6670"/>
                </a:solidFill>
                <a:latin typeface="Malgun Gothic" pitchFamily="34" charset="0"/>
                <a:ea typeface="Malgun Gothic" pitchFamily="34" charset="-122"/>
                <a:cs typeface="Malgun Gothic" pitchFamily="34" charset="-120"/>
              </a:rPr>
              <a:t>요구도 통일 검토</a:t>
            </a:r>
            <a:r>
              <a:rPr lang="en-US" altLang="ko-KR" sz="1150" dirty="0">
                <a:solidFill>
                  <a:srgbClr val="4A6670"/>
                </a:solidFill>
                <a:latin typeface="Malgun Gothic" pitchFamily="34" charset="0"/>
                <a:ea typeface="Malgun Gothic" pitchFamily="34" charset="-122"/>
                <a:cs typeface="Malgun Gothic" pitchFamily="34" charset="-120"/>
              </a:rPr>
              <a:t>)</a:t>
            </a:r>
          </a:p>
        </p:txBody>
      </p:sp>
      <p:sp>
        <p:nvSpPr>
          <p:cNvPr id="9" name="Shape 7"/>
          <p:cNvSpPr/>
          <p:nvPr/>
        </p:nvSpPr>
        <p:spPr>
          <a:xfrm>
            <a:off x="640080" y="2697480"/>
            <a:ext cx="10908792" cy="868680"/>
          </a:xfrm>
          <a:prstGeom prst="roundRect">
            <a:avLst>
              <a:gd name="adj" fmla="val 9474"/>
            </a:avLst>
          </a:prstGeom>
          <a:solidFill>
            <a:srgbClr val="F4F7F8"/>
          </a:solidFill>
          <a:ln/>
        </p:spPr>
      </p:sp>
      <p:sp>
        <p:nvSpPr>
          <p:cNvPr id="10" name="Shape 8"/>
          <p:cNvSpPr/>
          <p:nvPr/>
        </p:nvSpPr>
        <p:spPr>
          <a:xfrm>
            <a:off x="914400" y="2912364"/>
            <a:ext cx="438912" cy="438912"/>
          </a:xfrm>
          <a:prstGeom prst="roundRect">
            <a:avLst>
              <a:gd name="adj" fmla="val 50000"/>
            </a:avLst>
          </a:prstGeom>
          <a:solidFill>
            <a:srgbClr val="B85042"/>
          </a:solidFill>
          <a:ln/>
        </p:spPr>
      </p:sp>
      <p:sp>
        <p:nvSpPr>
          <p:cNvPr id="11" name="Text 9"/>
          <p:cNvSpPr txBox="1"/>
          <p:nvPr/>
        </p:nvSpPr>
        <p:spPr>
          <a:xfrm>
            <a:off x="914400" y="291236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02</a:t>
            </a:r>
            <a:endParaRPr lang="en-US" sz="1200" dirty="0"/>
          </a:p>
        </p:txBody>
      </p:sp>
      <p:sp>
        <p:nvSpPr>
          <p:cNvPr id="12" name="Text 10"/>
          <p:cNvSpPr txBox="1"/>
          <p:nvPr/>
        </p:nvSpPr>
        <p:spPr>
          <a:xfrm>
            <a:off x="1536192" y="2697480"/>
            <a:ext cx="2834640" cy="868680"/>
          </a:xfrm>
          <a:prstGeom prst="rect">
            <a:avLst/>
          </a:prstGeom>
          <a:noFill/>
          <a:ln/>
        </p:spPr>
        <p:txBody>
          <a:bodyPr wrap="square" lIns="0" tIns="0" rIns="0" bIns="0" rtlCol="0" anchor="ctr"/>
          <a:lstStyle/>
          <a:p>
            <a:pPr marL="0" indent="0" algn="l">
              <a:buNone/>
            </a:pPr>
            <a:r>
              <a:rPr lang="en-US" sz="1500" b="1" dirty="0">
                <a:solidFill>
                  <a:srgbClr val="14343B"/>
                </a:solidFill>
                <a:latin typeface="Malgun Gothic" pitchFamily="34" charset="0"/>
                <a:ea typeface="Malgun Gothic" pitchFamily="34" charset="-122"/>
                <a:cs typeface="Malgun Gothic" pitchFamily="34" charset="-120"/>
              </a:rPr>
              <a:t>LLM 기반 </a:t>
            </a:r>
            <a:r>
              <a:rPr lang="en-US" sz="1500" b="1" dirty="0" err="1">
                <a:solidFill>
                  <a:srgbClr val="14343B"/>
                </a:solidFill>
                <a:latin typeface="Malgun Gothic" pitchFamily="34" charset="0"/>
                <a:ea typeface="Malgun Gothic" pitchFamily="34" charset="-122"/>
                <a:cs typeface="Malgun Gothic" pitchFamily="34" charset="-120"/>
              </a:rPr>
              <a:t>필터의</a:t>
            </a:r>
            <a:r>
              <a:rPr lang="en-US" sz="1500" b="1" dirty="0">
                <a:solidFill>
                  <a:srgbClr val="14343B"/>
                </a:solidFill>
                <a:latin typeface="Malgun Gothic" pitchFamily="34" charset="0"/>
                <a:ea typeface="Malgun Gothic" pitchFamily="34" charset="-122"/>
                <a:cs typeface="Malgun Gothic" pitchFamily="34" charset="-120"/>
              </a:rPr>
              <a:t> </a:t>
            </a:r>
            <a:r>
              <a:rPr lang="ko-KR" altLang="en-US" sz="1500" b="1" dirty="0">
                <a:solidFill>
                  <a:srgbClr val="14343B"/>
                </a:solidFill>
                <a:latin typeface="Malgun Gothic" pitchFamily="34" charset="0"/>
                <a:ea typeface="Malgun Gothic" pitchFamily="34" charset="-122"/>
                <a:cs typeface="Malgun Gothic" pitchFamily="34" charset="-120"/>
              </a:rPr>
              <a:t>관심도 지수화 </a:t>
            </a:r>
            <a:endParaRPr lang="en-US" sz="1500" dirty="0"/>
          </a:p>
        </p:txBody>
      </p:sp>
      <p:sp>
        <p:nvSpPr>
          <p:cNvPr id="13" name="Text 11"/>
          <p:cNvSpPr txBox="1"/>
          <p:nvPr/>
        </p:nvSpPr>
        <p:spPr>
          <a:xfrm>
            <a:off x="4526280" y="2697480"/>
            <a:ext cx="6748272" cy="868680"/>
          </a:xfrm>
          <a:prstGeom prst="rect">
            <a:avLst/>
          </a:prstGeom>
          <a:noFill/>
          <a:ln/>
        </p:spPr>
        <p:txBody>
          <a:bodyPr wrap="square" lIns="0" tIns="0" rIns="0" bIns="0" rtlCol="0" anchor="ctr"/>
          <a:lstStyle/>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요구도 지수에 사용하는 LLM 기반 필터 결과를 관심도 지수로도 </a:t>
            </a:r>
            <a:r>
              <a:rPr lang="en-US" sz="1150" dirty="0" err="1">
                <a:solidFill>
                  <a:srgbClr val="4A6670"/>
                </a:solidFill>
                <a:latin typeface="Malgun Gothic" pitchFamily="34" charset="0"/>
                <a:ea typeface="Malgun Gothic" pitchFamily="34" charset="-122"/>
                <a:cs typeface="Malgun Gothic" pitchFamily="34" charset="-120"/>
              </a:rPr>
              <a:t>산출한다</a:t>
            </a:r>
            <a:r>
              <a:rPr lang="en-US" sz="1150" dirty="0">
                <a:solidFill>
                  <a:srgbClr val="4A6670"/>
                </a:solidFill>
                <a:latin typeface="Malgun Gothic" pitchFamily="34" charset="0"/>
                <a:ea typeface="Malgun Gothic" pitchFamily="34" charset="-122"/>
                <a:cs typeface="Malgun Gothic" pitchFamily="34" charset="-120"/>
              </a:rPr>
              <a:t> (</a:t>
            </a:r>
            <a:r>
              <a:rPr lang="ko-KR" altLang="en-US" sz="1150" dirty="0">
                <a:solidFill>
                  <a:srgbClr val="4A6670"/>
                </a:solidFill>
                <a:latin typeface="Malgun Gothic" pitchFamily="34" charset="0"/>
                <a:ea typeface="Malgun Gothic" pitchFamily="34" charset="-122"/>
                <a:cs typeface="Malgun Gothic" pitchFamily="34" charset="-120"/>
              </a:rPr>
              <a:t>예정</a:t>
            </a:r>
            <a:r>
              <a:rPr lang="en-US" altLang="ko-KR" sz="1150" dirty="0">
                <a:solidFill>
                  <a:srgbClr val="4A6670"/>
                </a:solidFill>
                <a:latin typeface="Malgun Gothic" pitchFamily="34" charset="0"/>
                <a:ea typeface="Malgun Gothic" pitchFamily="34" charset="-122"/>
                <a:cs typeface="Malgun Gothic" pitchFamily="34" charset="-120"/>
              </a:rPr>
              <a:t>, </a:t>
            </a:r>
            <a:r>
              <a:rPr lang="en-US" sz="1150" dirty="0" err="1">
                <a:solidFill>
                  <a:srgbClr val="4A6670"/>
                </a:solidFill>
                <a:latin typeface="Malgun Gothic" pitchFamily="34" charset="0"/>
                <a:ea typeface="Malgun Gothic" pitchFamily="34" charset="-122"/>
                <a:cs typeface="Malgun Gothic" pitchFamily="34" charset="-120"/>
              </a:rPr>
              <a:t>관심도</a:t>
            </a:r>
            <a:r>
              <a:rPr lang="en-US" sz="1150" dirty="0">
                <a:solidFill>
                  <a:srgbClr val="4A6670"/>
                </a:solidFill>
                <a:latin typeface="Malgun Gothic" pitchFamily="34" charset="0"/>
                <a:ea typeface="Malgun Gothic" pitchFamily="34" charset="-122"/>
                <a:cs typeface="Malgun Gothic" pitchFamily="34" charset="-120"/>
              </a:rPr>
              <a:t> C안).</a:t>
            </a:r>
            <a:endParaRPr lang="en-US" sz="1150" dirty="0"/>
          </a:p>
        </p:txBody>
      </p:sp>
      <p:sp>
        <p:nvSpPr>
          <p:cNvPr id="14" name="Shape 12"/>
          <p:cNvSpPr/>
          <p:nvPr/>
        </p:nvSpPr>
        <p:spPr>
          <a:xfrm>
            <a:off x="640080" y="3794760"/>
            <a:ext cx="10908792" cy="868680"/>
          </a:xfrm>
          <a:prstGeom prst="roundRect">
            <a:avLst>
              <a:gd name="adj" fmla="val 9474"/>
            </a:avLst>
          </a:prstGeom>
          <a:solidFill>
            <a:srgbClr val="F4F7F8"/>
          </a:solidFill>
          <a:ln/>
        </p:spPr>
      </p:sp>
      <p:sp>
        <p:nvSpPr>
          <p:cNvPr id="15" name="Shape 13"/>
          <p:cNvSpPr/>
          <p:nvPr/>
        </p:nvSpPr>
        <p:spPr>
          <a:xfrm>
            <a:off x="914400" y="4009644"/>
            <a:ext cx="438912" cy="438912"/>
          </a:xfrm>
          <a:prstGeom prst="roundRect">
            <a:avLst>
              <a:gd name="adj" fmla="val 50000"/>
            </a:avLst>
          </a:prstGeom>
          <a:solidFill>
            <a:srgbClr val="028090"/>
          </a:solidFill>
          <a:ln/>
        </p:spPr>
      </p:sp>
      <p:sp>
        <p:nvSpPr>
          <p:cNvPr id="16" name="Text 14"/>
          <p:cNvSpPr txBox="1"/>
          <p:nvPr/>
        </p:nvSpPr>
        <p:spPr>
          <a:xfrm>
            <a:off x="914400" y="400964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03</a:t>
            </a:r>
            <a:endParaRPr lang="en-US" sz="1200" dirty="0"/>
          </a:p>
        </p:txBody>
      </p:sp>
      <p:sp>
        <p:nvSpPr>
          <p:cNvPr id="17" name="Text 15"/>
          <p:cNvSpPr txBox="1"/>
          <p:nvPr/>
        </p:nvSpPr>
        <p:spPr>
          <a:xfrm>
            <a:off x="1536192" y="3794760"/>
            <a:ext cx="2834640" cy="868680"/>
          </a:xfrm>
          <a:prstGeom prst="rect">
            <a:avLst/>
          </a:prstGeom>
          <a:noFill/>
          <a:ln/>
        </p:spPr>
        <p:txBody>
          <a:bodyPr wrap="square" lIns="0" tIns="0" rIns="0" bIns="0" rtlCol="0" anchor="ctr"/>
          <a:lstStyle/>
          <a:p>
            <a:pPr marL="0" indent="0" algn="l">
              <a:buNone/>
            </a:pPr>
            <a:r>
              <a:rPr lang="en-US" sz="1500" b="1" dirty="0">
                <a:solidFill>
                  <a:srgbClr val="14343B"/>
                </a:solidFill>
                <a:latin typeface="Malgun Gothic" pitchFamily="34" charset="0"/>
                <a:ea typeface="Malgun Gothic" pitchFamily="34" charset="-122"/>
                <a:cs typeface="Malgun Gothic" pitchFamily="34" charset="-120"/>
              </a:rPr>
              <a:t>세부 분류 체계와 키워드 확정</a:t>
            </a:r>
            <a:endParaRPr lang="en-US" sz="1500" dirty="0"/>
          </a:p>
        </p:txBody>
      </p:sp>
      <p:sp>
        <p:nvSpPr>
          <p:cNvPr id="18" name="Text 16"/>
          <p:cNvSpPr txBox="1"/>
          <p:nvPr/>
        </p:nvSpPr>
        <p:spPr>
          <a:xfrm>
            <a:off x="4526280" y="3794760"/>
            <a:ext cx="6748272" cy="868680"/>
          </a:xfrm>
          <a:prstGeom prst="rect">
            <a:avLst/>
          </a:prstGeom>
          <a:noFill/>
          <a:ln/>
        </p:spPr>
        <p:txBody>
          <a:bodyPr wrap="square" lIns="0" tIns="0" rIns="0" bIns="0" rtlCol="0" anchor="ctr"/>
          <a:lstStyle/>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대기질 / 대기정책 / 생활(건강)의 분류 체계와 정의를 정해야 한다.</a:t>
            </a:r>
            <a:endParaRPr lang="en-US" sz="1150" dirty="0"/>
          </a:p>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455종을 다 쓰기는 어려우므로 분류에 쓸 키워드도 선별 필요.</a:t>
            </a:r>
            <a:endParaRPr lang="en-US" sz="1150" dirty="0"/>
          </a:p>
        </p:txBody>
      </p:sp>
      <p:sp>
        <p:nvSpPr>
          <p:cNvPr id="29" name="Shape 17">
            <a:extLst>
              <a:ext uri="{FF2B5EF4-FFF2-40B4-BE49-F238E27FC236}">
                <a16:creationId xmlns:a16="http://schemas.microsoft.com/office/drawing/2014/main" id="{CC29B072-BD3D-48B2-A8AC-DA61438542FB}"/>
              </a:ext>
            </a:extLst>
          </p:cNvPr>
          <p:cNvSpPr/>
          <p:nvPr/>
        </p:nvSpPr>
        <p:spPr>
          <a:xfrm>
            <a:off x="640080" y="4878324"/>
            <a:ext cx="10908792" cy="868680"/>
          </a:xfrm>
          <a:prstGeom prst="roundRect">
            <a:avLst>
              <a:gd name="adj" fmla="val 9474"/>
            </a:avLst>
          </a:prstGeom>
          <a:solidFill>
            <a:srgbClr val="F4F7F8"/>
          </a:solidFill>
          <a:ln/>
        </p:spPr>
      </p:sp>
      <p:sp>
        <p:nvSpPr>
          <p:cNvPr id="30" name="Shape 18">
            <a:extLst>
              <a:ext uri="{FF2B5EF4-FFF2-40B4-BE49-F238E27FC236}">
                <a16:creationId xmlns:a16="http://schemas.microsoft.com/office/drawing/2014/main" id="{EEFD778A-65B2-47FB-B7A6-5CD6DD1080EF}"/>
              </a:ext>
            </a:extLst>
          </p:cNvPr>
          <p:cNvSpPr/>
          <p:nvPr/>
        </p:nvSpPr>
        <p:spPr>
          <a:xfrm>
            <a:off x="914400" y="5093208"/>
            <a:ext cx="438912" cy="438912"/>
          </a:xfrm>
          <a:prstGeom prst="roundRect">
            <a:avLst>
              <a:gd name="adj" fmla="val 50000"/>
            </a:avLst>
          </a:prstGeom>
          <a:solidFill>
            <a:srgbClr val="028090"/>
          </a:solidFill>
          <a:ln/>
        </p:spPr>
      </p:sp>
      <p:sp>
        <p:nvSpPr>
          <p:cNvPr id="31" name="Text 19">
            <a:extLst>
              <a:ext uri="{FF2B5EF4-FFF2-40B4-BE49-F238E27FC236}">
                <a16:creationId xmlns:a16="http://schemas.microsoft.com/office/drawing/2014/main" id="{E2A0F148-ED13-4A0D-8E2D-97A6CC37EA08}"/>
              </a:ext>
            </a:extLst>
          </p:cNvPr>
          <p:cNvSpPr txBox="1"/>
          <p:nvPr/>
        </p:nvSpPr>
        <p:spPr>
          <a:xfrm>
            <a:off x="914400" y="509320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04</a:t>
            </a:r>
            <a:endParaRPr lang="en-US" sz="1200" dirty="0"/>
          </a:p>
        </p:txBody>
      </p:sp>
      <p:sp>
        <p:nvSpPr>
          <p:cNvPr id="32" name="Text 20">
            <a:extLst>
              <a:ext uri="{FF2B5EF4-FFF2-40B4-BE49-F238E27FC236}">
                <a16:creationId xmlns:a16="http://schemas.microsoft.com/office/drawing/2014/main" id="{1788D0A5-E889-450D-8552-3C58EAC1CE3F}"/>
              </a:ext>
            </a:extLst>
          </p:cNvPr>
          <p:cNvSpPr txBox="1"/>
          <p:nvPr/>
        </p:nvSpPr>
        <p:spPr>
          <a:xfrm>
            <a:off x="1536192" y="4878324"/>
            <a:ext cx="2834640" cy="868680"/>
          </a:xfrm>
          <a:prstGeom prst="rect">
            <a:avLst/>
          </a:prstGeom>
          <a:noFill/>
          <a:ln/>
        </p:spPr>
        <p:txBody>
          <a:bodyPr wrap="square" lIns="0" tIns="0" rIns="0" bIns="0" rtlCol="0" anchor="ctr"/>
          <a:lstStyle/>
          <a:p>
            <a:pPr marL="0" indent="0" algn="l">
              <a:buNone/>
            </a:pPr>
            <a:r>
              <a:rPr lang="en-US" sz="1500" b="1" dirty="0">
                <a:solidFill>
                  <a:srgbClr val="14343B"/>
                </a:solidFill>
                <a:latin typeface="Malgun Gothic" pitchFamily="34" charset="0"/>
                <a:ea typeface="Malgun Gothic" pitchFamily="34" charset="-122"/>
                <a:cs typeface="Malgun Gothic" pitchFamily="34" charset="-120"/>
              </a:rPr>
              <a:t>주제 분류 정의 확정</a:t>
            </a:r>
            <a:endParaRPr lang="en-US" sz="1500" dirty="0"/>
          </a:p>
        </p:txBody>
      </p:sp>
      <p:sp>
        <p:nvSpPr>
          <p:cNvPr id="33" name="Text 21">
            <a:extLst>
              <a:ext uri="{FF2B5EF4-FFF2-40B4-BE49-F238E27FC236}">
                <a16:creationId xmlns:a16="http://schemas.microsoft.com/office/drawing/2014/main" id="{B3193E05-0134-4FB9-A547-AB4D4D83CB84}"/>
              </a:ext>
            </a:extLst>
          </p:cNvPr>
          <p:cNvSpPr txBox="1"/>
          <p:nvPr/>
        </p:nvSpPr>
        <p:spPr>
          <a:xfrm>
            <a:off x="4526280" y="4878324"/>
            <a:ext cx="6748272" cy="868680"/>
          </a:xfrm>
          <a:prstGeom prst="rect">
            <a:avLst/>
          </a:prstGeom>
          <a:noFill/>
          <a:ln/>
        </p:spPr>
        <p:txBody>
          <a:bodyPr wrap="square" lIns="0" tIns="0" rIns="0" bIns="0" rtlCol="0" anchor="ctr"/>
          <a:lstStyle/>
          <a:p>
            <a:pPr marL="0" indent="0" algn="l">
              <a:lnSpc>
                <a:spcPct val="130000"/>
              </a:lnSpc>
              <a:buNone/>
            </a:pPr>
            <a:r>
              <a:rPr lang="en-US" sz="1150" dirty="0">
                <a:solidFill>
                  <a:srgbClr val="4A6670"/>
                </a:solidFill>
                <a:latin typeface="Malgun Gothic" pitchFamily="34" charset="0"/>
                <a:ea typeface="Malgun Gothic" pitchFamily="34" charset="-122"/>
                <a:cs typeface="Malgun Gothic" pitchFamily="34" charset="-120"/>
              </a:rPr>
              <a:t>대기질 / 대기정책 / 생활(건강)의 분류 체계와 각 항목의 정의를 결정해야 한다.</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256032"/>
            <a:ext cx="8686800" cy="438912"/>
          </a:xfrm>
          <a:prstGeom prst="rect">
            <a:avLst/>
          </a:prstGeom>
          <a:noFill/>
          <a:ln/>
        </p:spPr>
        <p:txBody>
          <a:bodyPr wrap="square" lIns="0" tIns="0" rIns="0" bIns="0" rtlCol="0" anchor="ctr"/>
          <a:lstStyle/>
          <a:p>
            <a:pPr marL="0" indent="0" algn="l">
              <a:buNone/>
            </a:pPr>
            <a:r>
              <a:rPr lang="en-US" altLang="ko-KR" sz="2700" b="1" dirty="0">
                <a:solidFill>
                  <a:srgbClr val="14343B"/>
                </a:solidFill>
                <a:latin typeface="Malgun Gothic" pitchFamily="34" charset="0"/>
                <a:ea typeface="Malgun Gothic" pitchFamily="34" charset="-122"/>
                <a:cs typeface="Malgun Gothic" pitchFamily="34" charset="-120"/>
              </a:rPr>
              <a:t>KISDI </a:t>
            </a:r>
            <a:r>
              <a:rPr lang="ko-KR" altLang="en-US" sz="2700" b="1" dirty="0">
                <a:solidFill>
                  <a:srgbClr val="14343B"/>
                </a:solidFill>
                <a:latin typeface="Malgun Gothic" pitchFamily="34" charset="0"/>
                <a:ea typeface="Malgun Gothic" pitchFamily="34" charset="-122"/>
                <a:cs typeface="Malgun Gothic" pitchFamily="34" charset="-120"/>
              </a:rPr>
              <a:t>데이터 구조</a:t>
            </a:r>
            <a:endParaRPr lang="en-US" sz="2700" dirty="0"/>
          </a:p>
        </p:txBody>
      </p:sp>
      <p:pic>
        <p:nvPicPr>
          <p:cNvPr id="6" name="그림 5">
            <a:extLst>
              <a:ext uri="{FF2B5EF4-FFF2-40B4-BE49-F238E27FC236}">
                <a16:creationId xmlns:a16="http://schemas.microsoft.com/office/drawing/2014/main" id="{E8F3E1F9-2239-4DCB-8043-CC7A9A430786}"/>
              </a:ext>
            </a:extLst>
          </p:cNvPr>
          <p:cNvPicPr>
            <a:picLocks noChangeAspect="1"/>
          </p:cNvPicPr>
          <p:nvPr/>
        </p:nvPicPr>
        <p:blipFill rotWithShape="1">
          <a:blip r:embed="rId3"/>
          <a:srcRect t="1507" r="600"/>
          <a:stretch/>
        </p:blipFill>
        <p:spPr>
          <a:xfrm>
            <a:off x="767080" y="1327150"/>
            <a:ext cx="10509250" cy="3727450"/>
          </a:xfrm>
          <a:prstGeom prst="rect">
            <a:avLst/>
          </a:prstGeom>
        </p:spPr>
      </p:pic>
    </p:spTree>
    <p:extLst>
      <p:ext uri="{BB962C8B-B14F-4D97-AF65-F5344CB8AC3E}">
        <p14:creationId xmlns:p14="http://schemas.microsoft.com/office/powerpoint/2010/main" val="2193337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256032"/>
            <a:ext cx="8686800" cy="438912"/>
          </a:xfrm>
          <a:prstGeom prst="rect">
            <a:avLst/>
          </a:prstGeom>
          <a:noFill/>
          <a:ln/>
        </p:spPr>
        <p:txBody>
          <a:bodyPr wrap="square" lIns="0" tIns="0" rIns="0" bIns="0" rtlCol="0" anchor="ctr"/>
          <a:lstStyle/>
          <a:p>
            <a:pPr marL="0" indent="0" algn="l">
              <a:buNone/>
            </a:pPr>
            <a:r>
              <a:rPr lang="ko-KR" altLang="en-US" sz="2700" b="1" dirty="0">
                <a:solidFill>
                  <a:srgbClr val="14343B"/>
                </a:solidFill>
                <a:latin typeface="Malgun Gothic" pitchFamily="34" charset="0"/>
                <a:ea typeface="Malgun Gothic" pitchFamily="34" charset="-122"/>
                <a:cs typeface="Malgun Gothic" pitchFamily="34" charset="-120"/>
              </a:rPr>
              <a:t>키워드 기반 기사 제외 기준</a:t>
            </a:r>
            <a:endParaRPr lang="en-US" sz="2700" dirty="0"/>
          </a:p>
        </p:txBody>
      </p:sp>
      <p:sp>
        <p:nvSpPr>
          <p:cNvPr id="3" name="Text 1"/>
          <p:cNvSpPr txBox="1"/>
          <p:nvPr/>
        </p:nvSpPr>
        <p:spPr>
          <a:xfrm>
            <a:off x="640080" y="713232"/>
            <a:ext cx="10881360" cy="274320"/>
          </a:xfrm>
          <a:prstGeom prst="rect">
            <a:avLst/>
          </a:prstGeom>
          <a:noFill/>
          <a:ln/>
        </p:spPr>
        <p:txBody>
          <a:bodyPr wrap="square" lIns="0" tIns="0" rIns="0" bIns="0" rtlCol="0" anchor="ctr"/>
          <a:lstStyle/>
          <a:p>
            <a:pPr marL="0" indent="0" algn="l">
              <a:buNone/>
            </a:pPr>
            <a:r>
              <a:rPr lang="en-US" sz="1300" dirty="0" err="1">
                <a:solidFill>
                  <a:srgbClr val="6B7D82"/>
                </a:solidFill>
                <a:latin typeface="Malgun Gothic" pitchFamily="34" charset="0"/>
                <a:ea typeface="Malgun Gothic" pitchFamily="34" charset="-122"/>
                <a:cs typeface="Malgun Gothic" pitchFamily="34" charset="-120"/>
              </a:rPr>
              <a:t>지수</a:t>
            </a:r>
            <a:r>
              <a:rPr lang="en-US" sz="1300" dirty="0">
                <a:solidFill>
                  <a:srgbClr val="6B7D82"/>
                </a:solidFill>
                <a:latin typeface="Malgun Gothic" pitchFamily="34" charset="0"/>
                <a:ea typeface="Malgun Gothic" pitchFamily="34" charset="-122"/>
                <a:cs typeface="Malgun Gothic" pitchFamily="34" charset="-120"/>
              </a:rPr>
              <a:t> </a:t>
            </a:r>
            <a:r>
              <a:rPr lang="en-US" sz="1300" dirty="0" err="1">
                <a:solidFill>
                  <a:srgbClr val="6B7D82"/>
                </a:solidFill>
                <a:latin typeface="Malgun Gothic" pitchFamily="34" charset="0"/>
                <a:ea typeface="Malgun Gothic" pitchFamily="34" charset="-122"/>
                <a:cs typeface="Malgun Gothic" pitchFamily="34" charset="-120"/>
              </a:rPr>
              <a:t>확정</a:t>
            </a:r>
            <a:r>
              <a:rPr lang="en-US" sz="1300" dirty="0">
                <a:solidFill>
                  <a:srgbClr val="6B7D82"/>
                </a:solidFill>
                <a:latin typeface="Malgun Gothic" pitchFamily="34" charset="0"/>
                <a:ea typeface="Malgun Gothic" pitchFamily="34" charset="-122"/>
                <a:cs typeface="Malgun Gothic" pitchFamily="34" charset="-120"/>
              </a:rPr>
              <a:t> </a:t>
            </a:r>
            <a:r>
              <a:rPr lang="en-US" sz="1300" dirty="0" err="1">
                <a:solidFill>
                  <a:srgbClr val="6B7D82"/>
                </a:solidFill>
                <a:latin typeface="Malgun Gothic" pitchFamily="34" charset="0"/>
                <a:ea typeface="Malgun Gothic" pitchFamily="34" charset="-122"/>
                <a:cs typeface="Malgun Gothic" pitchFamily="34" charset="-120"/>
              </a:rPr>
              <a:t>전에</a:t>
            </a:r>
            <a:r>
              <a:rPr lang="en-US" sz="1300" dirty="0">
                <a:solidFill>
                  <a:srgbClr val="6B7D82"/>
                </a:solidFill>
                <a:latin typeface="Malgun Gothic" pitchFamily="34" charset="0"/>
                <a:ea typeface="Malgun Gothic" pitchFamily="34" charset="-122"/>
                <a:cs typeface="Malgun Gothic" pitchFamily="34" charset="-120"/>
              </a:rPr>
              <a:t> </a:t>
            </a:r>
            <a:r>
              <a:rPr lang="en-US" sz="1300" dirty="0" err="1">
                <a:solidFill>
                  <a:srgbClr val="6B7D82"/>
                </a:solidFill>
                <a:latin typeface="Malgun Gothic" pitchFamily="34" charset="0"/>
                <a:ea typeface="Malgun Gothic" pitchFamily="34" charset="-122"/>
                <a:cs typeface="Malgun Gothic" pitchFamily="34" charset="-120"/>
              </a:rPr>
              <a:t>합의가</a:t>
            </a:r>
            <a:r>
              <a:rPr lang="en-US" sz="1300" dirty="0">
                <a:solidFill>
                  <a:srgbClr val="6B7D82"/>
                </a:solidFill>
                <a:latin typeface="Malgun Gothic" pitchFamily="34" charset="0"/>
                <a:ea typeface="Malgun Gothic" pitchFamily="34" charset="-122"/>
                <a:cs typeface="Malgun Gothic" pitchFamily="34" charset="-120"/>
              </a:rPr>
              <a:t> </a:t>
            </a:r>
            <a:r>
              <a:rPr lang="en-US" sz="1300" dirty="0" err="1">
                <a:solidFill>
                  <a:srgbClr val="6B7D82"/>
                </a:solidFill>
                <a:latin typeface="Malgun Gothic" pitchFamily="34" charset="0"/>
                <a:ea typeface="Malgun Gothic" pitchFamily="34" charset="-122"/>
                <a:cs typeface="Malgun Gothic" pitchFamily="34" charset="-120"/>
              </a:rPr>
              <a:t>필요한</a:t>
            </a:r>
            <a:r>
              <a:rPr lang="en-US" sz="1300" dirty="0">
                <a:solidFill>
                  <a:srgbClr val="6B7D82"/>
                </a:solidFill>
                <a:latin typeface="Malgun Gothic" pitchFamily="34" charset="0"/>
                <a:ea typeface="Malgun Gothic" pitchFamily="34" charset="-122"/>
                <a:cs typeface="Malgun Gothic" pitchFamily="34" charset="-120"/>
              </a:rPr>
              <a:t> </a:t>
            </a:r>
            <a:r>
              <a:rPr lang="en-US" sz="1300" dirty="0" err="1">
                <a:solidFill>
                  <a:srgbClr val="6B7D82"/>
                </a:solidFill>
                <a:latin typeface="Malgun Gothic" pitchFamily="34" charset="0"/>
                <a:ea typeface="Malgun Gothic" pitchFamily="34" charset="-122"/>
                <a:cs typeface="Malgun Gothic" pitchFamily="34" charset="-120"/>
              </a:rPr>
              <a:t>항목</a:t>
            </a:r>
            <a:endParaRPr lang="en-US" sz="1300" dirty="0"/>
          </a:p>
        </p:txBody>
      </p:sp>
    </p:spTree>
    <p:extLst>
      <p:ext uri="{BB962C8B-B14F-4D97-AF65-F5344CB8AC3E}">
        <p14:creationId xmlns:p14="http://schemas.microsoft.com/office/powerpoint/2010/main" val="39158154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667</Words>
  <Application>Microsoft Office PowerPoint</Application>
  <PresentationFormat>와이드스크린</PresentationFormat>
  <Paragraphs>108</Paragraphs>
  <Slides>6</Slides>
  <Notes>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6</vt:i4>
      </vt:variant>
    </vt:vector>
  </HeadingPairs>
  <TitlesOfParts>
    <vt:vector size="11" baseType="lpstr">
      <vt:lpstr>맑은 고딕</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지수 산출 파이프라인</dc:title>
  <dc:subject>PptxGenJS Presentation</dc:subject>
  <dc:creator>PptxGenJS</dc:creator>
  <cp:lastModifiedBy>KEI</cp:lastModifiedBy>
  <cp:revision>18</cp:revision>
  <dcterms:created xsi:type="dcterms:W3CDTF">2026-09-01T05:02:22Z</dcterms:created>
  <dcterms:modified xsi:type="dcterms:W3CDTF">2026-09-18T05:56:55Z</dcterms:modified>
</cp:coreProperties>
</file>